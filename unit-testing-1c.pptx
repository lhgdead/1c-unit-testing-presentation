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81" r:id="rId2"/>
    <p:sldId id="286" r:id="rId3"/>
    <p:sldId id="283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83" r:id="rId17"/>
    <p:sldId id="357" r:id="rId18"/>
    <p:sldId id="358" r:id="rId19"/>
    <p:sldId id="359" r:id="rId20"/>
    <p:sldId id="37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80" r:id="rId35"/>
    <p:sldId id="373" r:id="rId36"/>
    <p:sldId id="374" r:id="rId37"/>
    <p:sldId id="381" r:id="rId38"/>
    <p:sldId id="382" r:id="rId39"/>
    <p:sldId id="375" r:id="rId40"/>
    <p:sldId id="376" r:id="rId41"/>
    <p:sldId id="378" r:id="rId42"/>
  </p:sldIdLst>
  <p:sldSz cx="12192000" cy="6858000"/>
  <p:notesSz cx="6858000" cy="9144000"/>
  <p:embeddedFontLs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Consolas" panose="020B0609020204030204" pitchFamily="49" charset="0"/>
      <p:regular r:id="rId49"/>
      <p:bold r:id="rId50"/>
      <p:italic r:id="rId51"/>
      <p:boldItalic r:id="rId52"/>
    </p:embeddedFont>
    <p:embeddedFont>
      <p:font typeface="Onest SemiBold" panose="020B0604020202020204" charset="0"/>
      <p:bold r:id="rId53"/>
    </p:embeddedFont>
    <p:embeddedFont>
      <p:font typeface="Wix Madefor Display" panose="020B0604020202020204" charset="-52"/>
      <p:regular r:id="rId54"/>
      <p:bold r:id="rId5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EFF99B0-6F4D-4BC6-A9F7-96290BB10A3B}">
          <p14:sldIdLst>
            <p14:sldId id="281"/>
            <p14:sldId id="286"/>
            <p14:sldId id="283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83"/>
            <p14:sldId id="357"/>
            <p14:sldId id="358"/>
            <p14:sldId id="359"/>
            <p14:sldId id="37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80"/>
            <p14:sldId id="373"/>
            <p14:sldId id="374"/>
            <p14:sldId id="381"/>
            <p14:sldId id="382"/>
            <p14:sldId id="375"/>
            <p14:sldId id="376"/>
            <p14:sldId id="3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0F0F"/>
    <a:srgbClr val="A5A5A5"/>
    <a:srgbClr val="5F5AA6"/>
    <a:srgbClr val="5B9BD5"/>
    <a:srgbClr val="07C0D5"/>
    <a:srgbClr val="EC7D31"/>
    <a:srgbClr val="094778"/>
    <a:srgbClr val="FFFFFF"/>
    <a:srgbClr val="6CB6F4"/>
    <a:srgbClr val="5BA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81936" autoAdjust="0"/>
  </p:normalViewPr>
  <p:slideViewPr>
    <p:cSldViewPr snapToGrid="0" showGuides="1">
      <p:cViewPr varScale="1">
        <p:scale>
          <a:sx n="62" d="100"/>
          <a:sy n="62" d="100"/>
        </p:scale>
        <p:origin x="1074" y="60"/>
      </p:cViewPr>
      <p:guideLst>
        <p:guide orient="horz" pos="482"/>
        <p:guide pos="52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1A8C36-1B4E-4CED-99FF-72BB79AD4F05}" type="doc">
      <dgm:prSet loTypeId="urn:microsoft.com/office/officeart/2005/8/layout/pyramid1" loCatId="pyramid" qsTypeId="urn:microsoft.com/office/officeart/2005/8/quickstyle/simple1" qsCatId="simple" csTypeId="urn:microsoft.com/office/officeart/2005/8/colors/accent0_1" csCatId="mainScheme" phldr="1"/>
      <dgm:spPr/>
    </dgm:pt>
    <dgm:pt modelId="{B2510F6D-BEC0-46A4-BBA8-206E9DEF87FB}">
      <dgm:prSet phldrT="[Текст]"/>
      <dgm:spPr/>
      <dgm:t>
        <a:bodyPr/>
        <a:lstStyle/>
        <a:p>
          <a:r>
            <a:rPr lang="en-US" dirty="0"/>
            <a:t>UI</a:t>
          </a:r>
          <a:endParaRPr lang="ru-RU" dirty="0"/>
        </a:p>
      </dgm:t>
    </dgm:pt>
    <dgm:pt modelId="{F7ECED41-ADB6-4AED-B48B-E8E99DF8651C}" type="parTrans" cxnId="{34EFDD24-5AF1-49E7-826B-CD1C77A65905}">
      <dgm:prSet/>
      <dgm:spPr/>
      <dgm:t>
        <a:bodyPr/>
        <a:lstStyle/>
        <a:p>
          <a:endParaRPr lang="ru-RU"/>
        </a:p>
      </dgm:t>
    </dgm:pt>
    <dgm:pt modelId="{7DFB59EE-DC56-48C8-876F-95E29AE48689}" type="sibTrans" cxnId="{34EFDD24-5AF1-49E7-826B-CD1C77A65905}">
      <dgm:prSet/>
      <dgm:spPr/>
      <dgm:t>
        <a:bodyPr/>
        <a:lstStyle/>
        <a:p>
          <a:endParaRPr lang="ru-RU"/>
        </a:p>
      </dgm:t>
    </dgm:pt>
    <dgm:pt modelId="{6D5A27FC-6DFA-4AFF-B5C7-8F3185951E80}">
      <dgm:prSet phldrT="[Текст]"/>
      <dgm:spPr/>
      <dgm:t>
        <a:bodyPr/>
        <a:lstStyle/>
        <a:p>
          <a:r>
            <a:rPr lang="en-US" dirty="0"/>
            <a:t>Integration</a:t>
          </a:r>
          <a:endParaRPr lang="ru-RU" dirty="0"/>
        </a:p>
      </dgm:t>
    </dgm:pt>
    <dgm:pt modelId="{676CD33A-7A36-4AD0-A042-86B1CBBF8B7C}" type="parTrans" cxnId="{1191DDBD-B853-4962-96ED-6E0776EE9312}">
      <dgm:prSet/>
      <dgm:spPr/>
      <dgm:t>
        <a:bodyPr/>
        <a:lstStyle/>
        <a:p>
          <a:endParaRPr lang="ru-RU"/>
        </a:p>
      </dgm:t>
    </dgm:pt>
    <dgm:pt modelId="{17E09ADD-BE49-4009-99F0-6BD0ECBFB6BF}" type="sibTrans" cxnId="{1191DDBD-B853-4962-96ED-6E0776EE9312}">
      <dgm:prSet/>
      <dgm:spPr/>
      <dgm:t>
        <a:bodyPr/>
        <a:lstStyle/>
        <a:p>
          <a:endParaRPr lang="ru-RU"/>
        </a:p>
      </dgm:t>
    </dgm:pt>
    <dgm:pt modelId="{F1260543-14C6-4E56-B771-6A65180CBC99}">
      <dgm:prSet phldrT="[Текст]"/>
      <dgm:spPr/>
      <dgm:t>
        <a:bodyPr/>
        <a:lstStyle/>
        <a:p>
          <a:r>
            <a:rPr lang="en-US" dirty="0"/>
            <a:t>Unit</a:t>
          </a:r>
          <a:endParaRPr lang="ru-RU" dirty="0"/>
        </a:p>
      </dgm:t>
    </dgm:pt>
    <dgm:pt modelId="{C0878C15-06E4-46E2-960B-0A14A3A25FC5}" type="parTrans" cxnId="{A9CB81B6-730D-44F6-A7BE-D61DB74954B3}">
      <dgm:prSet/>
      <dgm:spPr/>
      <dgm:t>
        <a:bodyPr/>
        <a:lstStyle/>
        <a:p>
          <a:endParaRPr lang="ru-RU"/>
        </a:p>
      </dgm:t>
    </dgm:pt>
    <dgm:pt modelId="{0F21534E-A6CF-4EA1-8017-37C9C8FA1748}" type="sibTrans" cxnId="{A9CB81B6-730D-44F6-A7BE-D61DB74954B3}">
      <dgm:prSet/>
      <dgm:spPr/>
      <dgm:t>
        <a:bodyPr/>
        <a:lstStyle/>
        <a:p>
          <a:endParaRPr lang="ru-RU"/>
        </a:p>
      </dgm:t>
    </dgm:pt>
    <dgm:pt modelId="{F3367DE5-9784-42EA-BB20-E0E1D317552B}" type="pres">
      <dgm:prSet presAssocID="{D41A8C36-1B4E-4CED-99FF-72BB79AD4F05}" presName="Name0" presStyleCnt="0">
        <dgm:presLayoutVars>
          <dgm:dir/>
          <dgm:animLvl val="lvl"/>
          <dgm:resizeHandles val="exact"/>
        </dgm:presLayoutVars>
      </dgm:prSet>
      <dgm:spPr/>
    </dgm:pt>
    <dgm:pt modelId="{989525EC-6934-406E-B6B4-B6FA212A8A78}" type="pres">
      <dgm:prSet presAssocID="{B2510F6D-BEC0-46A4-BBA8-206E9DEF87FB}" presName="Name8" presStyleCnt="0"/>
      <dgm:spPr/>
    </dgm:pt>
    <dgm:pt modelId="{EFAB94BC-7107-47F1-8FAC-D8652EA45379}" type="pres">
      <dgm:prSet presAssocID="{B2510F6D-BEC0-46A4-BBA8-206E9DEF87FB}" presName="level" presStyleLbl="node1" presStyleIdx="0" presStyleCnt="3">
        <dgm:presLayoutVars>
          <dgm:chMax val="1"/>
          <dgm:bulletEnabled val="1"/>
        </dgm:presLayoutVars>
      </dgm:prSet>
      <dgm:spPr/>
    </dgm:pt>
    <dgm:pt modelId="{57328998-0931-4FCD-B98E-2CFC9ACE68A2}" type="pres">
      <dgm:prSet presAssocID="{B2510F6D-BEC0-46A4-BBA8-206E9DEF87F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CDCF8B9-68FA-4B33-8B88-330F0D98F33E}" type="pres">
      <dgm:prSet presAssocID="{6D5A27FC-6DFA-4AFF-B5C7-8F3185951E80}" presName="Name8" presStyleCnt="0"/>
      <dgm:spPr/>
    </dgm:pt>
    <dgm:pt modelId="{9D3E76B5-E5A1-468E-8026-0D5EC4B34BB3}" type="pres">
      <dgm:prSet presAssocID="{6D5A27FC-6DFA-4AFF-B5C7-8F3185951E80}" presName="level" presStyleLbl="node1" presStyleIdx="1" presStyleCnt="3">
        <dgm:presLayoutVars>
          <dgm:chMax val="1"/>
          <dgm:bulletEnabled val="1"/>
        </dgm:presLayoutVars>
      </dgm:prSet>
      <dgm:spPr/>
    </dgm:pt>
    <dgm:pt modelId="{60E3D9DA-F552-4EA2-9EB6-D80AAF758951}" type="pres">
      <dgm:prSet presAssocID="{6D5A27FC-6DFA-4AFF-B5C7-8F3185951E8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E45801B-3E9F-49AF-816E-48A45A220FDF}" type="pres">
      <dgm:prSet presAssocID="{F1260543-14C6-4E56-B771-6A65180CBC99}" presName="Name8" presStyleCnt="0"/>
      <dgm:spPr/>
    </dgm:pt>
    <dgm:pt modelId="{84F7675E-3515-4580-AEAC-175EB5DE8B50}" type="pres">
      <dgm:prSet presAssocID="{F1260543-14C6-4E56-B771-6A65180CBC99}" presName="level" presStyleLbl="node1" presStyleIdx="2" presStyleCnt="3">
        <dgm:presLayoutVars>
          <dgm:chMax val="1"/>
          <dgm:bulletEnabled val="1"/>
        </dgm:presLayoutVars>
      </dgm:prSet>
      <dgm:spPr/>
    </dgm:pt>
    <dgm:pt modelId="{9D09C8CA-FA84-4683-8A5B-0E977E88504B}" type="pres">
      <dgm:prSet presAssocID="{F1260543-14C6-4E56-B771-6A65180CBC99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34EFDD24-5AF1-49E7-826B-CD1C77A65905}" srcId="{D41A8C36-1B4E-4CED-99FF-72BB79AD4F05}" destId="{B2510F6D-BEC0-46A4-BBA8-206E9DEF87FB}" srcOrd="0" destOrd="0" parTransId="{F7ECED41-ADB6-4AED-B48B-E8E99DF8651C}" sibTransId="{7DFB59EE-DC56-48C8-876F-95E29AE48689}"/>
    <dgm:cxn modelId="{D1B4405F-F15A-4B19-898B-B5ED860DA184}" type="presOf" srcId="{B2510F6D-BEC0-46A4-BBA8-206E9DEF87FB}" destId="{57328998-0931-4FCD-B98E-2CFC9ACE68A2}" srcOrd="1" destOrd="0" presId="urn:microsoft.com/office/officeart/2005/8/layout/pyramid1"/>
    <dgm:cxn modelId="{BF905157-868B-4C36-AC3D-47EFEA7D187F}" type="presOf" srcId="{B2510F6D-BEC0-46A4-BBA8-206E9DEF87FB}" destId="{EFAB94BC-7107-47F1-8FAC-D8652EA45379}" srcOrd="0" destOrd="0" presId="urn:microsoft.com/office/officeart/2005/8/layout/pyramid1"/>
    <dgm:cxn modelId="{AF83C2B0-2F37-4F82-A2D0-19E4C103D9F5}" type="presOf" srcId="{F1260543-14C6-4E56-B771-6A65180CBC99}" destId="{9D09C8CA-FA84-4683-8A5B-0E977E88504B}" srcOrd="1" destOrd="0" presId="urn:microsoft.com/office/officeart/2005/8/layout/pyramid1"/>
    <dgm:cxn modelId="{A9CB81B6-730D-44F6-A7BE-D61DB74954B3}" srcId="{D41A8C36-1B4E-4CED-99FF-72BB79AD4F05}" destId="{F1260543-14C6-4E56-B771-6A65180CBC99}" srcOrd="2" destOrd="0" parTransId="{C0878C15-06E4-46E2-960B-0A14A3A25FC5}" sibTransId="{0F21534E-A6CF-4EA1-8017-37C9C8FA1748}"/>
    <dgm:cxn modelId="{1191DDBD-B853-4962-96ED-6E0776EE9312}" srcId="{D41A8C36-1B4E-4CED-99FF-72BB79AD4F05}" destId="{6D5A27FC-6DFA-4AFF-B5C7-8F3185951E80}" srcOrd="1" destOrd="0" parTransId="{676CD33A-7A36-4AD0-A042-86B1CBBF8B7C}" sibTransId="{17E09ADD-BE49-4009-99F0-6BD0ECBFB6BF}"/>
    <dgm:cxn modelId="{3FE85DCA-66E3-4D45-8521-3796EA90ACCF}" type="presOf" srcId="{6D5A27FC-6DFA-4AFF-B5C7-8F3185951E80}" destId="{60E3D9DA-F552-4EA2-9EB6-D80AAF758951}" srcOrd="1" destOrd="0" presId="urn:microsoft.com/office/officeart/2005/8/layout/pyramid1"/>
    <dgm:cxn modelId="{427C7AE8-B6DB-4643-B60D-78BDDA2CD87D}" type="presOf" srcId="{F1260543-14C6-4E56-B771-6A65180CBC99}" destId="{84F7675E-3515-4580-AEAC-175EB5DE8B50}" srcOrd="0" destOrd="0" presId="urn:microsoft.com/office/officeart/2005/8/layout/pyramid1"/>
    <dgm:cxn modelId="{264603FB-4BEC-44FF-AA09-A18FB2A8BE1B}" type="presOf" srcId="{6D5A27FC-6DFA-4AFF-B5C7-8F3185951E80}" destId="{9D3E76B5-E5A1-468E-8026-0D5EC4B34BB3}" srcOrd="0" destOrd="0" presId="urn:microsoft.com/office/officeart/2005/8/layout/pyramid1"/>
    <dgm:cxn modelId="{08AF1FFF-2C61-41F8-B3EB-D9C6A6105BCC}" type="presOf" srcId="{D41A8C36-1B4E-4CED-99FF-72BB79AD4F05}" destId="{F3367DE5-9784-42EA-BB20-E0E1D317552B}" srcOrd="0" destOrd="0" presId="urn:microsoft.com/office/officeart/2005/8/layout/pyramid1"/>
    <dgm:cxn modelId="{B0E03763-BE17-4EBF-BD71-7D3526ED8613}" type="presParOf" srcId="{F3367DE5-9784-42EA-BB20-E0E1D317552B}" destId="{989525EC-6934-406E-B6B4-B6FA212A8A78}" srcOrd="0" destOrd="0" presId="urn:microsoft.com/office/officeart/2005/8/layout/pyramid1"/>
    <dgm:cxn modelId="{90732813-BFB1-477A-BD2E-9898D9217609}" type="presParOf" srcId="{989525EC-6934-406E-B6B4-B6FA212A8A78}" destId="{EFAB94BC-7107-47F1-8FAC-D8652EA45379}" srcOrd="0" destOrd="0" presId="urn:microsoft.com/office/officeart/2005/8/layout/pyramid1"/>
    <dgm:cxn modelId="{5D5BEC08-0017-42AE-8968-94E213FC8F37}" type="presParOf" srcId="{989525EC-6934-406E-B6B4-B6FA212A8A78}" destId="{57328998-0931-4FCD-B98E-2CFC9ACE68A2}" srcOrd="1" destOrd="0" presId="urn:microsoft.com/office/officeart/2005/8/layout/pyramid1"/>
    <dgm:cxn modelId="{208E3E70-1F38-4666-9F04-5ECAC08B8C4C}" type="presParOf" srcId="{F3367DE5-9784-42EA-BB20-E0E1D317552B}" destId="{7CDCF8B9-68FA-4B33-8B88-330F0D98F33E}" srcOrd="1" destOrd="0" presId="urn:microsoft.com/office/officeart/2005/8/layout/pyramid1"/>
    <dgm:cxn modelId="{82928A1F-5AB7-4A6D-9BBD-209438ECBE5A}" type="presParOf" srcId="{7CDCF8B9-68FA-4B33-8B88-330F0D98F33E}" destId="{9D3E76B5-E5A1-468E-8026-0D5EC4B34BB3}" srcOrd="0" destOrd="0" presId="urn:microsoft.com/office/officeart/2005/8/layout/pyramid1"/>
    <dgm:cxn modelId="{A3503F6F-FE1D-4854-9490-937C9A0410E4}" type="presParOf" srcId="{7CDCF8B9-68FA-4B33-8B88-330F0D98F33E}" destId="{60E3D9DA-F552-4EA2-9EB6-D80AAF758951}" srcOrd="1" destOrd="0" presId="urn:microsoft.com/office/officeart/2005/8/layout/pyramid1"/>
    <dgm:cxn modelId="{9EBD3064-6F80-4FC8-A0A9-458B99BA79C2}" type="presParOf" srcId="{F3367DE5-9784-42EA-BB20-E0E1D317552B}" destId="{AE45801B-3E9F-49AF-816E-48A45A220FDF}" srcOrd="2" destOrd="0" presId="urn:microsoft.com/office/officeart/2005/8/layout/pyramid1"/>
    <dgm:cxn modelId="{64BE6675-D9DF-4759-9B09-99EA6F88F77E}" type="presParOf" srcId="{AE45801B-3E9F-49AF-816E-48A45A220FDF}" destId="{84F7675E-3515-4580-AEAC-175EB5DE8B50}" srcOrd="0" destOrd="0" presId="urn:microsoft.com/office/officeart/2005/8/layout/pyramid1"/>
    <dgm:cxn modelId="{10939B2E-3FF1-4476-9A9B-826E309476A1}" type="presParOf" srcId="{AE45801B-3E9F-49AF-816E-48A45A220FDF}" destId="{9D09C8CA-FA84-4683-8A5B-0E977E88504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1A8C36-1B4E-4CED-99FF-72BB79AD4F05}" type="doc">
      <dgm:prSet loTypeId="urn:microsoft.com/office/officeart/2005/8/layout/pyramid3" loCatId="pyramid" qsTypeId="urn:microsoft.com/office/officeart/2005/8/quickstyle/simple1" qsCatId="simple" csTypeId="urn:microsoft.com/office/officeart/2005/8/colors/accent0_1" csCatId="mainScheme" phldr="1"/>
      <dgm:spPr/>
    </dgm:pt>
    <dgm:pt modelId="{B2510F6D-BEC0-46A4-BBA8-206E9DEF87FB}">
      <dgm:prSet phldrT="[Текст]"/>
      <dgm:spPr/>
      <dgm:t>
        <a:bodyPr/>
        <a:lstStyle/>
        <a:p>
          <a:r>
            <a:rPr lang="en-US" dirty="0"/>
            <a:t>UI</a:t>
          </a:r>
          <a:endParaRPr lang="ru-RU" dirty="0"/>
        </a:p>
      </dgm:t>
    </dgm:pt>
    <dgm:pt modelId="{F7ECED41-ADB6-4AED-B48B-E8E99DF8651C}" type="parTrans" cxnId="{34EFDD24-5AF1-49E7-826B-CD1C77A65905}">
      <dgm:prSet/>
      <dgm:spPr/>
      <dgm:t>
        <a:bodyPr/>
        <a:lstStyle/>
        <a:p>
          <a:endParaRPr lang="ru-RU"/>
        </a:p>
      </dgm:t>
    </dgm:pt>
    <dgm:pt modelId="{7DFB59EE-DC56-48C8-876F-95E29AE48689}" type="sibTrans" cxnId="{34EFDD24-5AF1-49E7-826B-CD1C77A65905}">
      <dgm:prSet/>
      <dgm:spPr/>
      <dgm:t>
        <a:bodyPr/>
        <a:lstStyle/>
        <a:p>
          <a:endParaRPr lang="ru-RU"/>
        </a:p>
      </dgm:t>
    </dgm:pt>
    <dgm:pt modelId="{6D5A27FC-6DFA-4AFF-B5C7-8F3185951E80}">
      <dgm:prSet phldrT="[Текст]"/>
      <dgm:spPr/>
      <dgm:t>
        <a:bodyPr/>
        <a:lstStyle/>
        <a:p>
          <a:r>
            <a:rPr lang="en-US" dirty="0"/>
            <a:t>Integration</a:t>
          </a:r>
          <a:endParaRPr lang="ru-RU" dirty="0"/>
        </a:p>
      </dgm:t>
    </dgm:pt>
    <dgm:pt modelId="{676CD33A-7A36-4AD0-A042-86B1CBBF8B7C}" type="parTrans" cxnId="{1191DDBD-B853-4962-96ED-6E0776EE9312}">
      <dgm:prSet/>
      <dgm:spPr/>
      <dgm:t>
        <a:bodyPr/>
        <a:lstStyle/>
        <a:p>
          <a:endParaRPr lang="ru-RU"/>
        </a:p>
      </dgm:t>
    </dgm:pt>
    <dgm:pt modelId="{17E09ADD-BE49-4009-99F0-6BD0ECBFB6BF}" type="sibTrans" cxnId="{1191DDBD-B853-4962-96ED-6E0776EE9312}">
      <dgm:prSet/>
      <dgm:spPr/>
      <dgm:t>
        <a:bodyPr/>
        <a:lstStyle/>
        <a:p>
          <a:endParaRPr lang="ru-RU"/>
        </a:p>
      </dgm:t>
    </dgm:pt>
    <dgm:pt modelId="{F1260543-14C6-4E56-B771-6A65180CBC99}">
      <dgm:prSet phldrT="[Текст]" custT="1"/>
      <dgm:spPr/>
      <dgm:t>
        <a:bodyPr/>
        <a:lstStyle/>
        <a:p>
          <a:r>
            <a:rPr lang="en-US" sz="2100" dirty="0"/>
            <a:t>Unit</a:t>
          </a:r>
          <a:endParaRPr lang="ru-RU" sz="2100" dirty="0"/>
        </a:p>
      </dgm:t>
    </dgm:pt>
    <dgm:pt modelId="{C0878C15-06E4-46E2-960B-0A14A3A25FC5}" type="parTrans" cxnId="{A9CB81B6-730D-44F6-A7BE-D61DB74954B3}">
      <dgm:prSet/>
      <dgm:spPr/>
      <dgm:t>
        <a:bodyPr/>
        <a:lstStyle/>
        <a:p>
          <a:endParaRPr lang="ru-RU"/>
        </a:p>
      </dgm:t>
    </dgm:pt>
    <dgm:pt modelId="{0F21534E-A6CF-4EA1-8017-37C9C8FA1748}" type="sibTrans" cxnId="{A9CB81B6-730D-44F6-A7BE-D61DB74954B3}">
      <dgm:prSet/>
      <dgm:spPr/>
      <dgm:t>
        <a:bodyPr/>
        <a:lstStyle/>
        <a:p>
          <a:endParaRPr lang="ru-RU"/>
        </a:p>
      </dgm:t>
    </dgm:pt>
    <dgm:pt modelId="{FFFA01A6-996D-4CC7-AA61-842E05DB0DDC}" type="pres">
      <dgm:prSet presAssocID="{D41A8C36-1B4E-4CED-99FF-72BB79AD4F05}" presName="Name0" presStyleCnt="0">
        <dgm:presLayoutVars>
          <dgm:dir/>
          <dgm:animLvl val="lvl"/>
          <dgm:resizeHandles val="exact"/>
        </dgm:presLayoutVars>
      </dgm:prSet>
      <dgm:spPr/>
    </dgm:pt>
    <dgm:pt modelId="{1890EE0F-C740-42BB-AD71-CB5A9E727881}" type="pres">
      <dgm:prSet presAssocID="{B2510F6D-BEC0-46A4-BBA8-206E9DEF87FB}" presName="Name8" presStyleCnt="0"/>
      <dgm:spPr/>
    </dgm:pt>
    <dgm:pt modelId="{128D5F89-BDA0-45DB-A9A0-214C760E0466}" type="pres">
      <dgm:prSet presAssocID="{B2510F6D-BEC0-46A4-BBA8-206E9DEF87FB}" presName="level" presStyleLbl="node1" presStyleIdx="0" presStyleCnt="3" custLinFactNeighborX="23616">
        <dgm:presLayoutVars>
          <dgm:chMax val="1"/>
          <dgm:bulletEnabled val="1"/>
        </dgm:presLayoutVars>
      </dgm:prSet>
      <dgm:spPr/>
    </dgm:pt>
    <dgm:pt modelId="{B07D910D-12D7-4815-A18E-A6E0C32170B5}" type="pres">
      <dgm:prSet presAssocID="{B2510F6D-BEC0-46A4-BBA8-206E9DEF87F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8C30DD4-6DEC-4368-9B05-E94A65E44F51}" type="pres">
      <dgm:prSet presAssocID="{6D5A27FC-6DFA-4AFF-B5C7-8F3185951E80}" presName="Name8" presStyleCnt="0"/>
      <dgm:spPr/>
    </dgm:pt>
    <dgm:pt modelId="{6145FD4E-B4E7-4B6F-8BC4-C4B8229D2CDF}" type="pres">
      <dgm:prSet presAssocID="{6D5A27FC-6DFA-4AFF-B5C7-8F3185951E80}" presName="level" presStyleLbl="node1" presStyleIdx="1" presStyleCnt="3">
        <dgm:presLayoutVars>
          <dgm:chMax val="1"/>
          <dgm:bulletEnabled val="1"/>
        </dgm:presLayoutVars>
      </dgm:prSet>
      <dgm:spPr/>
    </dgm:pt>
    <dgm:pt modelId="{6AA17445-9136-4966-AF13-A0CDA3B269EA}" type="pres">
      <dgm:prSet presAssocID="{6D5A27FC-6DFA-4AFF-B5C7-8F3185951E8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5365BD1-834A-4958-B9AA-8247E4FC5684}" type="pres">
      <dgm:prSet presAssocID="{F1260543-14C6-4E56-B771-6A65180CBC99}" presName="Name8" presStyleCnt="0"/>
      <dgm:spPr/>
    </dgm:pt>
    <dgm:pt modelId="{2A75C6C6-A5E3-44E7-8026-E3E565F3D503}" type="pres">
      <dgm:prSet presAssocID="{F1260543-14C6-4E56-B771-6A65180CBC99}" presName="level" presStyleLbl="node1" presStyleIdx="2" presStyleCnt="3">
        <dgm:presLayoutVars>
          <dgm:chMax val="1"/>
          <dgm:bulletEnabled val="1"/>
        </dgm:presLayoutVars>
      </dgm:prSet>
      <dgm:spPr/>
    </dgm:pt>
    <dgm:pt modelId="{4602CAC7-A648-45D5-83D8-E37592F0A8B7}" type="pres">
      <dgm:prSet presAssocID="{F1260543-14C6-4E56-B771-6A65180CBC99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758751F-1DC7-472C-86A5-E912B05C2D18}" type="presOf" srcId="{B2510F6D-BEC0-46A4-BBA8-206E9DEF87FB}" destId="{B07D910D-12D7-4815-A18E-A6E0C32170B5}" srcOrd="1" destOrd="0" presId="urn:microsoft.com/office/officeart/2005/8/layout/pyramid3"/>
    <dgm:cxn modelId="{34EFDD24-5AF1-49E7-826B-CD1C77A65905}" srcId="{D41A8C36-1B4E-4CED-99FF-72BB79AD4F05}" destId="{B2510F6D-BEC0-46A4-BBA8-206E9DEF87FB}" srcOrd="0" destOrd="0" parTransId="{F7ECED41-ADB6-4AED-B48B-E8E99DF8651C}" sibTransId="{7DFB59EE-DC56-48C8-876F-95E29AE48689}"/>
    <dgm:cxn modelId="{DE14C36E-1249-4335-A44E-E20D436AF87C}" type="presOf" srcId="{6D5A27FC-6DFA-4AFF-B5C7-8F3185951E80}" destId="{6145FD4E-B4E7-4B6F-8BC4-C4B8229D2CDF}" srcOrd="0" destOrd="0" presId="urn:microsoft.com/office/officeart/2005/8/layout/pyramid3"/>
    <dgm:cxn modelId="{B5D8C473-4CF4-44CF-87AD-ADA6609C2DE9}" type="presOf" srcId="{6D5A27FC-6DFA-4AFF-B5C7-8F3185951E80}" destId="{6AA17445-9136-4966-AF13-A0CDA3B269EA}" srcOrd="1" destOrd="0" presId="urn:microsoft.com/office/officeart/2005/8/layout/pyramid3"/>
    <dgm:cxn modelId="{30FBA159-D3B0-4ED9-A442-A458C18D6EBE}" type="presOf" srcId="{B2510F6D-BEC0-46A4-BBA8-206E9DEF87FB}" destId="{128D5F89-BDA0-45DB-A9A0-214C760E0466}" srcOrd="0" destOrd="0" presId="urn:microsoft.com/office/officeart/2005/8/layout/pyramid3"/>
    <dgm:cxn modelId="{8E0F52B5-2CED-462E-ACAC-F768B6E9C521}" type="presOf" srcId="{F1260543-14C6-4E56-B771-6A65180CBC99}" destId="{4602CAC7-A648-45D5-83D8-E37592F0A8B7}" srcOrd="1" destOrd="0" presId="urn:microsoft.com/office/officeart/2005/8/layout/pyramid3"/>
    <dgm:cxn modelId="{A9CB81B6-730D-44F6-A7BE-D61DB74954B3}" srcId="{D41A8C36-1B4E-4CED-99FF-72BB79AD4F05}" destId="{F1260543-14C6-4E56-B771-6A65180CBC99}" srcOrd="2" destOrd="0" parTransId="{C0878C15-06E4-46E2-960B-0A14A3A25FC5}" sibTransId="{0F21534E-A6CF-4EA1-8017-37C9C8FA1748}"/>
    <dgm:cxn modelId="{1191DDBD-B853-4962-96ED-6E0776EE9312}" srcId="{D41A8C36-1B4E-4CED-99FF-72BB79AD4F05}" destId="{6D5A27FC-6DFA-4AFF-B5C7-8F3185951E80}" srcOrd="1" destOrd="0" parTransId="{676CD33A-7A36-4AD0-A042-86B1CBBF8B7C}" sibTransId="{17E09ADD-BE49-4009-99F0-6BD0ECBFB6BF}"/>
    <dgm:cxn modelId="{405850D6-8DB6-4C37-B93A-C7A24482A979}" type="presOf" srcId="{D41A8C36-1B4E-4CED-99FF-72BB79AD4F05}" destId="{FFFA01A6-996D-4CC7-AA61-842E05DB0DDC}" srcOrd="0" destOrd="0" presId="urn:microsoft.com/office/officeart/2005/8/layout/pyramid3"/>
    <dgm:cxn modelId="{8CD8C9FF-39C7-495F-9575-1A2EBAABAF64}" type="presOf" srcId="{F1260543-14C6-4E56-B771-6A65180CBC99}" destId="{2A75C6C6-A5E3-44E7-8026-E3E565F3D503}" srcOrd="0" destOrd="0" presId="urn:microsoft.com/office/officeart/2005/8/layout/pyramid3"/>
    <dgm:cxn modelId="{47D853BB-4ACC-4DEC-8B08-F6FD8DAA8E8B}" type="presParOf" srcId="{FFFA01A6-996D-4CC7-AA61-842E05DB0DDC}" destId="{1890EE0F-C740-42BB-AD71-CB5A9E727881}" srcOrd="0" destOrd="0" presId="urn:microsoft.com/office/officeart/2005/8/layout/pyramid3"/>
    <dgm:cxn modelId="{3C989216-EBB0-4511-B692-54BB5CB879FB}" type="presParOf" srcId="{1890EE0F-C740-42BB-AD71-CB5A9E727881}" destId="{128D5F89-BDA0-45DB-A9A0-214C760E0466}" srcOrd="0" destOrd="0" presId="urn:microsoft.com/office/officeart/2005/8/layout/pyramid3"/>
    <dgm:cxn modelId="{3FA392CE-5610-4E10-8BF5-7C172AB93759}" type="presParOf" srcId="{1890EE0F-C740-42BB-AD71-CB5A9E727881}" destId="{B07D910D-12D7-4815-A18E-A6E0C32170B5}" srcOrd="1" destOrd="0" presId="urn:microsoft.com/office/officeart/2005/8/layout/pyramid3"/>
    <dgm:cxn modelId="{93C1EE93-BB5D-4312-8EDF-D737C59CCF0D}" type="presParOf" srcId="{FFFA01A6-996D-4CC7-AA61-842E05DB0DDC}" destId="{98C30DD4-6DEC-4368-9B05-E94A65E44F51}" srcOrd="1" destOrd="0" presId="urn:microsoft.com/office/officeart/2005/8/layout/pyramid3"/>
    <dgm:cxn modelId="{C67BCE76-ABBC-48C9-BD62-CEDBE1D4760D}" type="presParOf" srcId="{98C30DD4-6DEC-4368-9B05-E94A65E44F51}" destId="{6145FD4E-B4E7-4B6F-8BC4-C4B8229D2CDF}" srcOrd="0" destOrd="0" presId="urn:microsoft.com/office/officeart/2005/8/layout/pyramid3"/>
    <dgm:cxn modelId="{4A075A2E-9EF3-4006-B32D-58585161EA8F}" type="presParOf" srcId="{98C30DD4-6DEC-4368-9B05-E94A65E44F51}" destId="{6AA17445-9136-4966-AF13-A0CDA3B269EA}" srcOrd="1" destOrd="0" presId="urn:microsoft.com/office/officeart/2005/8/layout/pyramid3"/>
    <dgm:cxn modelId="{D28EA894-8FBF-4BE9-A42C-1AFCE20685DE}" type="presParOf" srcId="{FFFA01A6-996D-4CC7-AA61-842E05DB0DDC}" destId="{95365BD1-834A-4958-B9AA-8247E4FC5684}" srcOrd="2" destOrd="0" presId="urn:microsoft.com/office/officeart/2005/8/layout/pyramid3"/>
    <dgm:cxn modelId="{D5355061-FD5F-4593-820D-640A321AEE7C}" type="presParOf" srcId="{95365BD1-834A-4958-B9AA-8247E4FC5684}" destId="{2A75C6C6-A5E3-44E7-8026-E3E565F3D503}" srcOrd="0" destOrd="0" presId="urn:microsoft.com/office/officeart/2005/8/layout/pyramid3"/>
    <dgm:cxn modelId="{04A65C05-5A5D-4D35-9F7E-26C7CD45DBE5}" type="presParOf" srcId="{95365BD1-834A-4958-B9AA-8247E4FC5684}" destId="{4602CAC7-A648-45D5-83D8-E37592F0A8B7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AB94BC-7107-47F1-8FAC-D8652EA45379}">
      <dsp:nvSpPr>
        <dsp:cNvPr id="0" name=""/>
        <dsp:cNvSpPr/>
      </dsp:nvSpPr>
      <dsp:spPr>
        <a:xfrm>
          <a:off x="1271905" y="0"/>
          <a:ext cx="1271904" cy="1078713"/>
        </a:xfrm>
        <a:prstGeom prst="trapezoid">
          <a:avLst>
            <a:gd name="adj" fmla="val 58955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UI</a:t>
          </a:r>
          <a:endParaRPr lang="ru-RU" sz="2700" kern="1200" dirty="0"/>
        </a:p>
      </dsp:txBody>
      <dsp:txXfrm>
        <a:off x="1271905" y="0"/>
        <a:ext cx="1271904" cy="1078713"/>
      </dsp:txXfrm>
    </dsp:sp>
    <dsp:sp modelId="{9D3E76B5-E5A1-468E-8026-0D5EC4B34BB3}">
      <dsp:nvSpPr>
        <dsp:cNvPr id="0" name=""/>
        <dsp:cNvSpPr/>
      </dsp:nvSpPr>
      <dsp:spPr>
        <a:xfrm>
          <a:off x="635952" y="1078713"/>
          <a:ext cx="2543809" cy="1078713"/>
        </a:xfrm>
        <a:prstGeom prst="trapezoid">
          <a:avLst>
            <a:gd name="adj" fmla="val 58955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Integration</a:t>
          </a:r>
          <a:endParaRPr lang="ru-RU" sz="2700" kern="1200" dirty="0"/>
        </a:p>
      </dsp:txBody>
      <dsp:txXfrm>
        <a:off x="1081119" y="1078713"/>
        <a:ext cx="1653476" cy="1078713"/>
      </dsp:txXfrm>
    </dsp:sp>
    <dsp:sp modelId="{84F7675E-3515-4580-AEAC-175EB5DE8B50}">
      <dsp:nvSpPr>
        <dsp:cNvPr id="0" name=""/>
        <dsp:cNvSpPr/>
      </dsp:nvSpPr>
      <dsp:spPr>
        <a:xfrm>
          <a:off x="0" y="2157426"/>
          <a:ext cx="3815714" cy="1078713"/>
        </a:xfrm>
        <a:prstGeom prst="trapezoid">
          <a:avLst>
            <a:gd name="adj" fmla="val 58955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Unit</a:t>
          </a:r>
          <a:endParaRPr lang="ru-RU" sz="2700" kern="1200" dirty="0"/>
        </a:p>
      </dsp:txBody>
      <dsp:txXfrm>
        <a:off x="667750" y="2157426"/>
        <a:ext cx="2480214" cy="10787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D5F89-BDA0-45DB-A9A0-214C760E0466}">
      <dsp:nvSpPr>
        <dsp:cNvPr id="0" name=""/>
        <dsp:cNvSpPr/>
      </dsp:nvSpPr>
      <dsp:spPr>
        <a:xfrm rot="10800000">
          <a:off x="0" y="0"/>
          <a:ext cx="3884294" cy="1078713"/>
        </a:xfrm>
        <a:prstGeom prst="trapezoid">
          <a:avLst>
            <a:gd name="adj" fmla="val 60014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UI</a:t>
          </a:r>
          <a:endParaRPr lang="ru-RU" sz="2800" kern="1200" dirty="0"/>
        </a:p>
      </dsp:txBody>
      <dsp:txXfrm rot="-10800000">
        <a:off x="679751" y="0"/>
        <a:ext cx="2524791" cy="1078713"/>
      </dsp:txXfrm>
    </dsp:sp>
    <dsp:sp modelId="{6145FD4E-B4E7-4B6F-8BC4-C4B8229D2CDF}">
      <dsp:nvSpPr>
        <dsp:cNvPr id="0" name=""/>
        <dsp:cNvSpPr/>
      </dsp:nvSpPr>
      <dsp:spPr>
        <a:xfrm rot="10800000">
          <a:off x="647382" y="1078713"/>
          <a:ext cx="2589529" cy="1078713"/>
        </a:xfrm>
        <a:prstGeom prst="trapezoid">
          <a:avLst>
            <a:gd name="adj" fmla="val 60014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Integration</a:t>
          </a:r>
          <a:endParaRPr lang="ru-RU" sz="2800" kern="1200" dirty="0"/>
        </a:p>
      </dsp:txBody>
      <dsp:txXfrm rot="-10800000">
        <a:off x="1100550" y="1078713"/>
        <a:ext cx="1683194" cy="1078713"/>
      </dsp:txXfrm>
    </dsp:sp>
    <dsp:sp modelId="{2A75C6C6-A5E3-44E7-8026-E3E565F3D503}">
      <dsp:nvSpPr>
        <dsp:cNvPr id="0" name=""/>
        <dsp:cNvSpPr/>
      </dsp:nvSpPr>
      <dsp:spPr>
        <a:xfrm rot="10800000">
          <a:off x="1294765" y="2157426"/>
          <a:ext cx="1294764" cy="1078713"/>
        </a:xfrm>
        <a:prstGeom prst="trapezoid">
          <a:avLst>
            <a:gd name="adj" fmla="val 60014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Unit</a:t>
          </a:r>
          <a:endParaRPr lang="ru-RU" sz="2100" kern="1200" dirty="0"/>
        </a:p>
      </dsp:txBody>
      <dsp:txXfrm rot="-10800000">
        <a:off x="1294765" y="2157426"/>
        <a:ext cx="1294764" cy="10787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75789-E854-4068-B6C7-73AA8522728D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EFAE9-AC26-4C15-8D6C-743E705D3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7639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1550BF8A-7AE0-4821-85C1-3873CAA23A54}" type="datetimeFigureOut">
              <a:rPr lang="ru-RU" smtClean="0"/>
              <a:t>13.09.2026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fld id="{380A7FEE-8208-4A6A-A70A-34974CF1E1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48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lang="ru-RU" sz="1200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lang="ru-RU" sz="1200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lang="ru-RU" sz="1200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lang="ru-RU" sz="1200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Добрый день, коллеги! Меня зовут Максим Штифонов, я ведущий разработчик в </a:t>
            </a:r>
            <a:r>
              <a:rPr lang="ru-RU" noProof="0" dirty="0" err="1"/>
              <a:t>KoronaTech</a:t>
            </a:r>
            <a:r>
              <a:rPr lang="ru-RU" noProof="0" dirty="0"/>
              <a:t>. Сегодня я хочу поговорить о юнит-тестах в 1С и о паттернах проектирования, которые помогают писать тесты без лишних проблем.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Сначала мы разберёмся, что считать юнит-тестом и зачем нужна изоляция. Затем посмотрим на классическую и лондонскую школы тестирования, обсудим различие между поведением и деталями реализации.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После этого перейдём к паттернам и антипаттернам на примерах 1С, а в конце поговорим о внедрении тестов в реальный процесс разработки: Git, CI/CD, тестовые базы и работу с командой. По ходу доклада я также покажу несколько практических приёмов и лайфхаков, которые пригодились нам в работе.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Немного обо мне. С 1С я знаком ещё со школы, а в двадцать лет сдал экзамен «1С:Специалист», хотя тогда ещё не работал разработчиком официально и был самоучкой без реальных проектов. Сейчас я ведущий разработчик в </a:t>
            </a:r>
            <a:r>
              <a:rPr dirty="0" err="1"/>
              <a:t>KoronaTech</a:t>
            </a:r>
            <a:r>
              <a:rPr dirty="0"/>
              <a:t> и работаю над финансовыми продуктами на платформе 1С.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последние годы я занимаюсь тестированием и всем, что с ним связано. Ну а </a:t>
            </a:r>
            <a:r>
              <a:rPr dirty="0" err="1"/>
              <a:t>Fallout</a:t>
            </a:r>
            <a:r>
              <a:rPr dirty="0"/>
              <a:t>: New Vegas - это просто легендарная игра, на которую всегда найдётся ещё несколько сотен часов.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Мы разрабатываем финансовые продукты, в частности решения для займов. На слайде показано, как нас видят внешние сервисы: для них это просто один блок с надписью «1С». Вот так просто - 1С.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Внутри всё сложнее: формирование клиентского портфеля, закрытие дня, расчёт графиков, отправка отчётности и множество связанных процессов (рисунок со схемой взаимодействия был удален </a:t>
            </a:r>
            <a:r>
              <a:rPr lang="ru-RU" noProof="0" dirty="0" err="1"/>
              <a:t>ДИБом</a:t>
            </a:r>
            <a:r>
              <a:rPr lang="ru-RU" noProof="0" dirty="0"/>
              <a:t>). Каждая ошибка в такой системе стоит бизнесу копеечку, а иногда и совсем не копеечку.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Миллиарды для нас - это не абстрактные цифры, а ежедневный денежный оборот. Поэтому возможность быстро проверить бизнес-логику после изменений стала для нас особенно важной.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В тестировании часто используют метафору пирамиды: в основании находится много быстрых юнит-тестов, выше - меньше интеграционных, а на вершине - немного UI- и сквозных тестов.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В проектах 1С эта пирамида нередко перевёрнута: основная нагрузка приходится на ручные и высокоуровневые проверки, а юнит-тестов мало. Причины можно разделить на две группы.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Первая - привычные подходы к разработке. В конфигурациях 1С часто встречается высокая связанность компонентов: бизнес-логика тесно переплетена с метаданными, данными информационной базы и элементами интерфейса.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Вторая группа - технические особенности платформы. Отдельный компонент не всегда можно просто запустить в полностью изолированном окружении. Встроенные возможности подмены зависимостей ограничены, поэтому приходится использовать расширения, тестовые данные и инструменты тестового движка. Дополнительная проблема - размытые границы ответственности модулей.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Смысл слайда не в том, что UI-тесты плохи. Нам нужны разные уровни проверок, но как можно больше локальных правил выгодно проверять быстрыми тестами.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Несмотря на множество определений, у юнит-теста есть три основные характеристики. Он проверяет одну законченную единицу поведения, выполняется быстро и изолирован от других тестов.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Под юнитом я имею в виду не обязательно один метод или модуль. Это может быть небольшой сценарий поведения, понятный с точки зрения предметной области. Изоляция означает, что тесты не оставляют друг другу данные и не зависят от порядка запуска. Контролируемая среда может достигаться по-разному: подготовкой собственных данных, откатом изменений или заменой отдельных зависимостей заглушками. Заглушки полезны, но не являются обязательным признаком каждого юнит-теста. А скорость позволяет выполнять проверки постоянно - локально и в CI.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Все дальнейшие примеры будут показаны на </a:t>
            </a:r>
            <a:r>
              <a:rPr dirty="0" err="1"/>
              <a:t>YAxUnit</a:t>
            </a:r>
            <a:r>
              <a:rPr dirty="0"/>
              <a:t> - движке модульного тестирования решений на платформе 1С. Он предоставляет регистрацию сценариев, утверждения, подготовку и удаление тестовых данных, </a:t>
            </a:r>
            <a:r>
              <a:rPr dirty="0" err="1"/>
              <a:t>мокирование</a:t>
            </a:r>
            <a:r>
              <a:rPr dirty="0"/>
              <a:t>, параметризацию и отчёты для CI.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При этом </a:t>
            </a:r>
            <a:r>
              <a:rPr dirty="0" err="1"/>
              <a:t>YAxUnit</a:t>
            </a:r>
            <a:r>
              <a:rPr dirty="0"/>
              <a:t> - не единственный инструмент в экосистеме 1С. Ранее и сейчас используется xUnitFor1C, а так же продукты семейства </a:t>
            </a:r>
            <a:r>
              <a:rPr dirty="0" err="1"/>
              <a:t>Vanessa</a:t>
            </a:r>
            <a:r>
              <a:rPr dirty="0"/>
              <a:t>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нашей практике мы выбрали </a:t>
            </a:r>
            <a:r>
              <a:rPr dirty="0" err="1"/>
              <a:t>YAxUnit</a:t>
            </a:r>
            <a:r>
              <a:rPr dirty="0"/>
              <a:t>: он активно развивается, поддерживается сообществом и уже используется во многих проектах. Мне особенно нравится его текучий интерфейс - цепочки вызовов читаются почти как описание требования.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Вернёмся к изоляции. В двух школах тестирования этот термин понимается по-разному. Классическая, или </a:t>
            </a:r>
            <a:r>
              <a:rPr dirty="0" err="1"/>
              <a:t>детройтская</a:t>
            </a:r>
            <a:r>
              <a:rPr dirty="0"/>
              <a:t>, школа в первую очередь изолирует тесты друг от друга. Лондонская школа изолирует тестируемый код от его изменяемых зависимостей и чаще использует </a:t>
            </a:r>
            <a:r>
              <a:rPr dirty="0" err="1"/>
              <a:t>моки</a:t>
            </a:r>
            <a:r>
              <a:rPr dirty="0"/>
              <a:t>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Мы не будем разбирать все различия школ. Посмотрим на главный разделитель, сравним два варианта одного теста и обсудим, что практичнее в типичной разработке на 1С.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Классическая школа требует, чтобы тесты не влияли друг на друга. При этом внутри одного теста могут работать несколько реальных компонентов, если вместе они реализуют одно проверяемое поведение.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На рисунке тестируемая система зависит от двух объектов. Это могут быть модули, объекты 1С или обычные структуры данных. Их не нужно автоматически заменять </a:t>
            </a:r>
            <a:r>
              <a:rPr dirty="0" err="1"/>
              <a:t>моками</a:t>
            </a:r>
            <a:r>
              <a:rPr dirty="0"/>
              <a:t>. Важно, чтобы тест самостоятельно готовил состояние, оставался быстрым и после выполнения не мешал другим тестам.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Лондонская школа изолирует тестируемую систему от её изменяемых коллабораторов. Реальные зависимости заменяются заглушками или моками, поведение которых заранее настраивается в тесте.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Это удобно, когда зависимость медленная, нестабильная или обращается к внешнему ресурсу. Но из этого не следует, что один тест обязан проверять только один класс. Граница теста всё равно определяется поведением. Риск появляется, когда тест начинает проверять каждый внутренний вызов и тем самым связывается с реализацией.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Чтобы сравнить школы, посмотрим на простой пример. В модуле объекта накладной есть процедура «</a:t>
            </a:r>
            <a:r>
              <a:rPr lang="ru-RU" noProof="0" dirty="0" err="1"/>
              <a:t>УстановитьСтатусПоСкладу</a:t>
            </a:r>
            <a:r>
              <a:rPr lang="ru-RU" noProof="0" dirty="0"/>
              <a:t>». Она проверяет доступность склада и устанавливает документу активный или неактивный статус.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Нас интересует решение, которое принимает накладная: если склад доступен, статус должен стать активным. В следующих двух тестах ожидаемый результат будет одинаковым, но зависимость от склада мы подготовим по-разному.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Начнём с классического варианта. Мы создаём настоящий склад, настраиваем его функцией «УстановитьДоступностьСклада», записываем, помещаем ссылку в накладную, выполняем тестируемый метод и проверяем, что статус стал активным.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Теперь посчитаем зависимости. Склад - настоящий объект, а не мок. Поскольку мы записываем его, появляется зависимость от информационной базы. Кроме того, могут существовать невидимые зависимости: обязательные реквизиты, обработчики записи и другие правила конфигурации.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Теперь немного натянем сову на глобус и попробуем максимально изолировать накладную от склада. Запись реального склада заменяем созданием подходящей ссылки, а вызов метода доступности - настроенным мок-объектом, который возвращает «Истина».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результате тесту требуется меньше реальных данных, но он начинает знать, какой метод вызывается внутри накладной. Важно: показанный на слайде «секретный метод» создания ссылки - это проектный технический приём, а не стандартный API </a:t>
            </a:r>
            <a:r>
              <a:rPr dirty="0" err="1"/>
              <a:t>YAxUnit</a:t>
            </a:r>
            <a:r>
              <a:rPr dirty="0"/>
              <a:t>. Такой способ стоит использовать осознанно и только там, где он действительно упрощает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Как мы уже отмечали, эти два подхода фундаментально различаются и требуют вдумчивого применения. Однако в экосистеме 1С мы часто имеем дело с сильно связанными конфигурациями. Множество объектов взаимосвязаны и активно используют данные и состояние друг друга.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В таких условиях классическая школа тестирования, на мой взгляд, становится оптимальным выбором. Она предоставляет инструменты для создания контролируемого и предсказуемого окружения, что позволяет надёжно тестировать сложные, тесно связанные объекты конфигурации.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Перед написанием теста - а ещё лучше до написания основного кода - полезно понять, что именно делает метод и что является его наблюдаемым результатом. Мы хотим проверять поведение системы, результат выполнения и значимые взаимодействия компонентов, а не конкретный способ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Простая аналогия - приготовление кофе. Поведение одно: получить чашку горячего кофе. Но реализация может быть разной: засыпать молотый кофе в турку и нагреть его; положить капсулу в кофемашину и нажать кнопку; залить кипятком растворимый кофе.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Если результат и публичный контракт не изменились, тест не должен ломаться только потому, что внутри появился другой способ приготовления.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536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Детали имплементации - это проверки не поведения системы, а того, как именно оно реализовано внутри. Они фиксируют внутренние решения, которые сами по себе не входят в контракт поведения.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Это происходит, когда тест знает о внутреннем устройстве кода и проверяет: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1. Какие именно методы вызываются.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2. В каком порядке они вызываются.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3. Какие внутренние переменные используются.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4. Какую структуру данных имеет тестируемый объект.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примере такими деталями могут быть логгер, поиск коэффициента и даже конкретный способ умножения суммы на коэффициент. Итоговая рассчитанная сумма - это уже наблюдаемый результат.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Логирование тоже может стать поведением, если журнал или событие являются обязательным внешним результатом для аудита или интеграции. Граница зависит от требований к системе. Тесты на детали становятся хрупкими, требуют постоянных изменений при рефакторинге и слишком много знают о внутреннем устройстве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этом тесте мы проверяем сразу несколько внутренних действий: запись события в логгер, обращение к модулю коэффициентов и только затем итоговую сумму НДС.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Если завтра расчёт перепишут, уберут логирование или заменят способ получения коэффициента, тест сломается, даже если сумма останется правильной. Это ложное срабатывание: поведение системы не изменилось, а тест требует переделки. Чем больше таких проверок, тем дороже безопасный рефакторинг.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Исправленный вариант получился заметно проще: выполняем расчёт и сравниваем итоговую сумму с ожидаемой. Формально здесь проверяются выходные данные метода - это один из способов наблюдать его поведение. Я дальше буду для простоты называть такую проверку проверкой поведения.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При этом всегда нужно учитывать границу конкретного модуля: что именно он обязан делать и какой результат видит его потребитель. То, что для одного компонента является внутренней деталью, для другого может быть публичным контрактом.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доработках типовых объектов иногда приходится отдельно контролировать точку расширения или перехват, потому что нам важно сохранить саму «врезку» в чужой код. Такой тест нужно честно воспринимать как более связанный с реализацией.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Мы увидели несколько причин хрупкости тестов. Теперь перейдём к практическим шаблонам, которые помогают сделать сценарии понятнее, и к антипаттернам, по которым можно быстро заметить проблему в структуре теста.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Паттерн AAA делит тест на три части: </a:t>
            </a:r>
            <a:r>
              <a:rPr dirty="0" err="1"/>
              <a:t>Arrange</a:t>
            </a:r>
            <a:r>
              <a:rPr dirty="0"/>
              <a:t> - подготовка исходных условий, Act - одно основное действие, </a:t>
            </a:r>
            <a:r>
              <a:rPr dirty="0" err="1"/>
              <a:t>Assert</a:t>
            </a:r>
            <a:r>
              <a:rPr dirty="0"/>
              <a:t> - проверка результата. Такая структура делает тесты проще для чтения, написания и сопровождения, а также помогает удерживать фокус на одном конкретном поведении.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На слайде в блоке подготовки создаётся тестовый заём, в блоке действия вызывается проверяемый метод, а в блоке проверки полученная коллекция сравнивается с ожиданием. По такой структуре сразу видно, какой сценарий задан, где находится основное действие и какое поведение мы защищаем.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Если внутри одного теста повторяются блоки подготовки, действия и проверки, тест, скорее всего, охватывает несколько единиц поведения. Его становится труднее читать и отлаживать.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Обычно решение простое: разделить сценарий на несколько самостоятельных тестов. Редкое исключение возможно в интеграционном тесте, когда подготовка внешнего состояния очень дорога, но для обычного юнит-теста несколько действий - хороший сигнал остановиться и пересмотреть границу.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примере сначала проверяется размер файла, а затем тот же сценарий продолжает работу: запускается парсер и проверяется вид объекта. Уже при чтении заметно, что здесь две самостоятельные причины падения. Почему это плохо?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Во-первых, снижается читаемость: тест перестаёт отвечать на простой вопрос «Что именно он проверяет?».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Во-вторых, усложняется отладка: падение поздней проверки не сразу показывает, на каком действии появилась ошибка.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В-третьих, вместо одного поведения тест начинает проверять целую цепочку.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Лучше сделать два теста: один - на формирование файла нужного размера, второй - на определение вида объекта парсером. Тогда название каждого теста будет точно описывать ожидание, а при ошибке мы сразу поймём, какое поведение нарушено.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Условный оператор внутри тестового метода - ещё один тревожный признак. Тест должен быть линейным сценарием с заранее известным ожидаемым результатом. Если ожидание выбирается через «Если», то в одном методе спрятано несколько сценариев.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примере калорийность определяется по виду колы прямо внутри теста. При добавлении нового варианта придётся менять код проверки. Лучше вынести варианты во входные параметры и выполнить один и тот же сценарий для каждого набора данных.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Обратите внимание на блок «Иначе». Что именно должно находиться в этой ветке? Сейчас тест ожидает калорийность 2000 для любого вида колы, который не является «</a:t>
            </a:r>
            <a:r>
              <a:rPr dirty="0" err="1"/>
              <a:t>Зиро</a:t>
            </a:r>
            <a:r>
              <a:rPr dirty="0"/>
              <a:t>» или «Классической». Но это ожидание ничем не обосновано.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Если завтра появится кола с лаймом, она автоматически попадёт в «Иначе». Тест либо проверит её по неверному правилу, либо нам придётся снова открывать тестовый метод и добавлять новую ветку. Кроме того, внутри теста мы фактически повторяем часть бизнес-логики: самостоятельно определяем ожидаемый результат по виду колы.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хорошем тесте ожидаемый результат известен заранее и не вычисляется с помощью условий. Поэтому в данном тестовом методе ветка «Иначе» вообще не нужна.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исправленном варианте вид колы и ожидаемая калорийность передаются как параметры. Сам тест больше не ветвится: он получает готовый сценарий, выполняет действие и сравнивает результат.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При появлении колы с лаймом мы добавим ещё один набор параметров, не меняя тело теста. Эти параметры можно перечислить при регистрации теста или сформировать снаружи отдельной функцией.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Когда вы меняете бизнес-логику или структуру данных в одном месте программы, вам приходится вносить правки в десятки, казалось бы, не связанных тестов. Это прямое следствие того, что тесты слишком сильно завязаны на конкретную реализацию, а не на публичный контракт тестируемого метода или объекта.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Цена поддержки тестов становится очень высокой. Вместо того чтобы изменить один тест для одного модуля, вы тратите время на исправление множества хрупких тестов.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Именно это называется сильной связанностью при изменении.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Мы хотим проверить запись движений документа через «</a:t>
            </a:r>
            <a:r>
              <a:rPr dirty="0" err="1"/>
              <a:t>ДвижокПроведения</a:t>
            </a:r>
            <a:r>
              <a:rPr dirty="0"/>
              <a:t>». Структура движений хранится в документе, а правила их записи и порядок выполнения находятся в отдельном движке.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первом варианте тест не только запускает движок, но и проверяет внутреннюю схему хранения: появились ли записи в регистрах «</a:t>
            </a:r>
            <a:r>
              <a:rPr dirty="0" err="1"/>
              <a:t>ОстаткиТоваров</a:t>
            </a:r>
            <a:r>
              <a:rPr dirty="0"/>
              <a:t>» и «</a:t>
            </a:r>
            <a:r>
              <a:rPr dirty="0" err="1"/>
              <a:t>ДвиженияТоваров</a:t>
            </a:r>
            <a:r>
              <a:rPr dirty="0"/>
              <a:t>», а также ссылаются ли они на документ как на регистратора. Если один регистр заменят другим, тест сломается, даже когда публичный результат движка останется прежним.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Этот тест жёстко завязан на внутреннюю реализацию проведения документа. Он проверяет не то, что система делает - у документа записались движения, - а то, как она это делает: в какие именно регистры создаются движения.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Исправленный тест проверяет контракт движка: операция завершилась успешно.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Он больше не зависит от конкретных регистров и продолжит работать после внутреннего рефакторинга, если обещанное поведение сохранится. Если бизнес-требование требует проверить сами движения, такую проверку нужно оставить отдельно - уже на подходящем интеграционном уровне.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Здесь важен архитектурный вывод. Я проверяю не обработку проведения каждого документа по отдельности, а выделенный «</a:t>
            </a:r>
            <a:r>
              <a:rPr dirty="0" err="1"/>
              <a:t>ДвижокПроведения</a:t>
            </a:r>
            <a:r>
              <a:rPr dirty="0"/>
              <a:t>». Этот простой тест стал возможен потому, что код изначально проектировался с понятным результатом и отдельной зоной ответственности.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Когда начинаешь писать тесты, меняется сам подход к программированию: появляются явные контракты, вместо прямого обращения к глобальному состоянию - управляемые точки доступа, а зависимости становятся заметнее. Поэтому юнит-тесты писать просто, если основной код изначально написан с учётом тестируемости.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Сильная связанность при выполнении возникает, когда тесты используют общее состояние и влияют друг на друга.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Тест А проходит только после теста Б, который подготовил или оставил данные. Отдельно запустить такой тест для отладки уже нельзя, а результат общего прогона зависит от порядка.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В примере зарегистрированы тесты «СоздатьОстаткиНоменклатурыПоКоду» и «УдалитьОстаткиНоменклатурыПоКоду». Первый создаёт номенклатуру и остаток, но не очищает их. Второй работает с тем же кодом, добавляет собственные данные, удаляет остаток и ожидает ноль. Однако в базе может остаться запись первого теста, поэтому фактический результат не совпадает с ожиданием.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Каждый тест должен самостоятельно создавать уникальное окружение и не рассчитывать на следы другого теста.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Для исправления каждый тест должен получить собственное состояние. В YAxUnit можно запускать поддерживаемые серверные тесты в транзакции и откатывать изменения после выполнения.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Для объектов, созданных через «ЮТест.Данные()», можно включить автоматическое удаление. Эти механизмы не взаимозаменяемы и не покрывают всё автоматически.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Транзакции не применяются к клиентским тестам и могут конфликтовать с кодом, который управляет своими транзакциями. Автоудаление не удалит данные, созданные напрямую или внутри продуктового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Использование случайных данных в юнит-тестах - это спорная практика, которая может свести на нет их главные преимущества. Самая критичная проблема - недетерминизм, ведущий к нестабильным тестам. Такой тест может случайно проходить или падать без изменений в коде, заставляя разработчика тратить время на поиск несуществующих ошибок.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Случайные данные также затрудняют воспроизведение ошибки. Если тест упал на сборке, мы можем не знать, какие именно данные привели к падению, и не суметь воспроизвести эту ситуацию локально.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Наконец, такие тесты плохо документируют код. Их цель размывается: вместо того чтобы быть живым примером использования системы, они превращаются в чёрный ящик.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Но мы живём в реальном мире - в мире 1С. Подготовить вручную миллионы наборов тестовых данных практически невозможно.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Поэтому полностью избегать случайных данных часто нецелесообразно с точки зрения трудозатрат. Ключевой момент заключается не в полном отказе от них, а в осознанном применении и управлении случайностью.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Основная задача - отделить случайность, используемую для удобства генерации тестовых данных, от случайности самих тестовых сценариев.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Рассмотрим тест готовности накладной к отправке. Мы создаём объект, как-то его настраиваем, присваиваем документу случайную дату, записываем и ожидаем, что метод «</a:t>
            </a:r>
            <a:r>
              <a:rPr dirty="0" err="1"/>
              <a:t>ГотоваКОтправке</a:t>
            </a:r>
            <a:r>
              <a:rPr dirty="0"/>
              <a:t>()» вернёт «Истина».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Дата не относится к заявленному поведению, но является значимым реквизитом документа и способна помешать записи. А что, если запрещено создавать документы прошлым или будущим периодом? Что, если случайная дата попадёт в закрытый период? Настройки базы тоже могут отличаться.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Кроме того, «</a:t>
            </a:r>
            <a:r>
              <a:rPr dirty="0" err="1"/>
              <a:t>СлучайнаяДата</a:t>
            </a:r>
            <a:r>
              <a:rPr dirty="0"/>
              <a:t>()» без границ использует очень широкий диапазон. В итоге тест периодически падает ещё на записи - по причине, не связанной с готовностью накладной к отправке.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Решений несколько, и показанные строки являются альтернативами. Можно ограничить случайную дату безопасным диапазоном, использовать текущую дату сеанса или вынести выбор в функцию с предметным названием - например, «</a:t>
            </a:r>
            <a:r>
              <a:rPr dirty="0" err="1"/>
              <a:t>ДатаДокументаНакладной</a:t>
            </a:r>
            <a:r>
              <a:rPr dirty="0"/>
              <a:t>()».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Так значение </a:t>
            </a:r>
            <a:r>
              <a:rPr dirty="0" err="1"/>
              <a:t>проксируется</a:t>
            </a:r>
            <a:r>
              <a:rPr dirty="0"/>
              <a:t> через отдельный уровень абстракции, и на него можно централизованно повлиять позднее.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Иногда техническую зависимость можно отключить настройкой базы, функциональной опцией или константой перед тестом. Но всегда нужно оценивать трудозатраты: если для небольшой проверки требуется подготовить миллион настроек, возможно, лучше выбрать более простой вариант, другой уровень теста или изменить дизайн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Под конец я хочу коротко рассказать о личном опыте внедрения тестов. Написать первый тест несложно. Гораздо труднее сделать так, чтобы тестирование стало обычной частью командной разработки, а не личной инициативой одного человека.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Во-первых, нужен воспроизводимый способ хранить тесты вместе с кодом. У нас это GitLab. На слайде видно, что в рамках одной задачи изменяется основная функциональность и одновременно добавляются тесты. Благодаря этому код и его проверки проходят ревью вместе, а история изменений остаётся связанной.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Если Git в конкретной команде пока не используется, тестовое расширение можно версионировать средствами принятого процесса, в том числе через штатное хранилище конфигурации. Конкретный инструмент может быть другим; важен сам принцип: тесты должны храниться и поставляться вместе с функциональностью, которую защищают.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Далее - автоматические проверки. На скриншоте показан </a:t>
            </a:r>
            <a:r>
              <a:rPr dirty="0" err="1"/>
              <a:t>GitLab</a:t>
            </a:r>
            <a:r>
              <a:rPr dirty="0"/>
              <a:t> </a:t>
            </a:r>
            <a:r>
              <a:rPr dirty="0" err="1"/>
              <a:t>Pipeline</a:t>
            </a:r>
            <a:r>
              <a:rPr dirty="0"/>
              <a:t>, который запускается при изменениях в репозитории. Это конвейер CI: один этап отвечает за модульные тесты, другие - за сборку основной конфигурации и тестового расширения, синтаксическую проверку и дополнительные проверки качества. Так каждый новый тест, добавленный в рамках задачи, автоматически попадает в общий процесс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Сразу стоит договориться, какой будет тестовая база. Полная копия обычно является самым неудобным вариантом: она большая, содержит лишние данные и создаёт скрытые зависимости между тестами.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На практике мне ближе частично заполненная база: в ней есть только основные настройки и стабильные инфраструктурные данные, а всё, что относится к конкретному сценарию, создаёт сам тест. Особенно удобно, если базовое состояние воспроизводимо формируется обработчиками обновления.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Пустая база максимально прозрачна, но требует серьёзных усилий по созданию данных и автоматической инициализации. Это сложно и дорого, хотя даёт высокий уровень контроля.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И наконец, люди - обычно самый сложный этап внедрения. Нужно не только убедить команду писать тесты, но и постепенно менять основной код: уменьшать связанность, выделять контракты и управлять зависимостями. Это легко воспринимается как дополнительная работа.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Лучше начинать с небольшого пилота и показывать практическую пользу: безопасный рефакторинг, воспроизводимые ошибки и меньше ручной регрессии. Когда-нибудь я отдельно расскажу, как нам удалось изменить взгляд команды на разработку, но это уже тема другого доклада.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В завершение хочу порекомендовать основные источники. Книга Владимира </a:t>
            </a:r>
            <a:r>
              <a:rPr dirty="0" err="1"/>
              <a:t>Хорикова</a:t>
            </a:r>
            <a:r>
              <a:rPr dirty="0"/>
              <a:t> «Принципы юнит-тестирования» - доступное руководство, которое помогает понять качество тестов, изоляцию, устойчивость к рефакторингу и разумное применение </a:t>
            </a:r>
            <a:r>
              <a:rPr dirty="0" err="1"/>
              <a:t>моков</a:t>
            </a:r>
            <a:r>
              <a:rPr dirty="0"/>
              <a:t>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Документация и сообщество </a:t>
            </a:r>
            <a:r>
              <a:rPr dirty="0" err="1"/>
              <a:t>YAxUnit</a:t>
            </a:r>
            <a:r>
              <a:rPr dirty="0"/>
              <a:t> показывают, как реализовать эти идеи на платформе 1С. Именно благодаря работе сообщества всё, о чём мы говорили сегодня, можно применять на практике.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Подведём итог. Начать писать тесты в 1С технически несложно: можно взять один модуль и один важный сценарий. Но устойчивость набора зависит от архитектуры и привычек, которые мы закладываем с первых тестов.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Тестируемый код обычно имеет более ясные границы, меньше скрытых зависимостей и понятнее выраженный контракт. А хорошие тесты дают уверенность при изменениях, защищают от регрессий и служат живыми примерами поведения системы.</a:t>
            </a:r>
          </a:p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/>
              <a:t>Делайте тесты правильно, делайте тесты как я - и обязательно делайте их лучше меня.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Спасибо за внимание! Готов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39788" y="1898471"/>
            <a:ext cx="9828212" cy="1212206"/>
          </a:xfrm>
          <a:prstGeom prst="rect">
            <a:avLst/>
          </a:prstGeom>
        </p:spPr>
        <p:txBody>
          <a:bodyPr anchor="ctr"/>
          <a:lstStyle>
            <a:lvl1pPr algn="l"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ТЕМА В ОДНУ</a:t>
            </a:r>
            <a:br>
              <a:rPr lang="ru-RU" dirty="0"/>
            </a:br>
            <a:r>
              <a:rPr lang="ru-RU" dirty="0"/>
              <a:t>ИЛИ В ДВЕ СТРОКИ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0" hasCustomPrompt="1"/>
          </p:nvPr>
        </p:nvSpPr>
        <p:spPr>
          <a:xfrm>
            <a:off x="839788" y="4397374"/>
            <a:ext cx="4794250" cy="829485"/>
          </a:xfrm>
        </p:spPr>
        <p:txBody>
          <a:bodyPr anchor="ctr">
            <a:normAutofit/>
          </a:bodyPr>
          <a:lstStyle>
            <a:lvl1pPr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Имя и Фамилия спикера</a:t>
            </a:r>
          </a:p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3109913"/>
            <a:ext cx="9002712" cy="9334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 err="1"/>
              <a:t>Подтема</a:t>
            </a:r>
            <a:r>
              <a:rPr lang="ru-RU" dirty="0"/>
              <a:t> в одну или в две строки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9976B65-83D1-41EE-B90D-AC3864B6824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185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4792"/>
            <a:ext cx="10515600" cy="851303"/>
          </a:xfrm>
          <a:prstGeom prst="rect">
            <a:avLst/>
          </a:prstGeom>
        </p:spPr>
        <p:txBody>
          <a:bodyPr anchor="t"/>
          <a:lstStyle>
            <a:lvl1pPr>
              <a:defRPr sz="2800" b="0"/>
            </a:lvl1pPr>
          </a:lstStyle>
          <a:p>
            <a:r>
              <a:rPr lang="ru-RU" dirty="0"/>
              <a:t>Заголовок – идея в одну или две строки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6753"/>
            <a:ext cx="10515600" cy="483151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80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ru-RU" dirty="0"/>
              <a:t>Тест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fld id="{C9976B65-83D1-41EE-B90D-AC3864B6824A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B8F745-A0FA-4F67-A71A-C8905C1E8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41" y="6589882"/>
            <a:ext cx="11352381" cy="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1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рки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6753"/>
            <a:ext cx="10515600" cy="4831510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§"/>
              <a:tabLst/>
              <a:defRPr sz="18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</p:txBody>
      </p:sp>
      <p:sp>
        <p:nvSpPr>
          <p:cNvPr id="5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4792"/>
            <a:ext cx="10515600" cy="851303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ru-RU" dirty="0"/>
              <a:t>Заголовок – идея в одну </a:t>
            </a:r>
            <a:br>
              <a:rPr lang="ru-RU" dirty="0"/>
            </a:br>
            <a:r>
              <a:rPr lang="ru-RU" dirty="0"/>
              <a:t>или две строки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fld id="{C9976B65-83D1-41EE-B90D-AC3864B6824A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D9106E-02A0-4CFB-9132-AAB050634A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19" y="6581810"/>
            <a:ext cx="11352381" cy="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2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и, диаграммы, таблиц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838200" y="1586753"/>
            <a:ext cx="10515600" cy="483151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Чтобы вставить изображение / иллюстрацию / </a:t>
            </a:r>
            <a:r>
              <a:rPr lang="en-US" dirty="0" err="1"/>
              <a:t>etc</a:t>
            </a:r>
            <a:r>
              <a:rPr lang="ru-RU" dirty="0"/>
              <a:t>., нажмите на иконку в центре слайда.  Изображение: если оно встроилось некорректно, выделите его правой кнопкой мыши и нажмите «Обрезка». Таблица: выберите количество строк и столбцов, заполните данные и отредактируйте: избавьтесь от заливки, удалите внешние и внутренние вертикальные границы, внутренние горизонтальные границы сделайте деликатными, выровняйте текстовые данные по левому краю, числовые – по правому, выделите важные данные и шапку таблицы. Диаграмма: выберите тип, заполните данные. Удалите линии сетки и шкалу значений. Подпишите значения рядом с сегментами, укрупните подписи. Разместите подписи так, чтобы они не пересекали диаграмму, располагались горизонтально. Легенду поместите над диаграммой. Расставьте цветовые акценты: второстепенные сектора окрасьте в серый, главный – в красный или фиолетовый. Сделайте крупнее числовое значение рядом с главным сектором.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/>
          </a:p>
        </p:txBody>
      </p:sp>
      <p:sp>
        <p:nvSpPr>
          <p:cNvPr id="9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4792"/>
            <a:ext cx="10515600" cy="851303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ru-RU" dirty="0"/>
              <a:t>Заголовок – идея в одну </a:t>
            </a:r>
            <a:br>
              <a:rPr lang="ru-RU" dirty="0"/>
            </a:br>
            <a:r>
              <a:rPr lang="ru-RU" dirty="0"/>
              <a:t>или две строки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fld id="{C9976B65-83D1-41EE-B90D-AC3864B6824A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64B425-1510-43A2-8763-FCBD1D8596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19" y="6581810"/>
            <a:ext cx="11352381" cy="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613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ллюстрации, диаграммы, таблицы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6275295" y="394792"/>
            <a:ext cx="5916705" cy="618886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Чтобы вставить изображение / иллюстрацию / </a:t>
            </a:r>
            <a:r>
              <a:rPr lang="en-US" dirty="0" err="1"/>
              <a:t>etc</a:t>
            </a:r>
            <a:r>
              <a:rPr lang="ru-RU" dirty="0"/>
              <a:t>., нажмите на соответствующую иконку в центре слайда. </a:t>
            </a:r>
          </a:p>
        </p:txBody>
      </p:sp>
      <p:sp>
        <p:nvSpPr>
          <p:cNvPr id="4" name="Текст 10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6753"/>
            <a:ext cx="4899212" cy="4831510"/>
          </a:xfrm>
        </p:spPr>
        <p:txBody>
          <a:bodyPr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§"/>
              <a:tabLst/>
              <a:defRPr sz="1800" baseline="0"/>
            </a:lvl1pPr>
          </a:lstStyle>
          <a:p>
            <a:pPr lvl="0"/>
            <a:r>
              <a:rPr lang="ru-RU" dirty="0"/>
              <a:t>Пункт 1</a:t>
            </a:r>
          </a:p>
          <a:p>
            <a:pPr lvl="0"/>
            <a:r>
              <a:rPr lang="ru-RU" dirty="0"/>
              <a:t>Пункт 2</a:t>
            </a:r>
          </a:p>
          <a:p>
            <a:pPr lvl="0"/>
            <a:r>
              <a:rPr lang="ru-RU" dirty="0"/>
              <a:t>Пункт 3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8200" y="394793"/>
            <a:ext cx="4899212" cy="8513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ru-RU" dirty="0"/>
              <a:t>Заголовок – идея в одну или две строки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9976B65-83D1-41EE-B90D-AC3864B6824A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6B12FC4-4CFE-411A-906E-C02402BE42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581810"/>
            <a:ext cx="11352381" cy="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7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39788" y="2081352"/>
            <a:ext cx="9828212" cy="1212206"/>
          </a:xfrm>
          <a:prstGeom prst="rect">
            <a:avLst/>
          </a:prstGeom>
        </p:spPr>
        <p:txBody>
          <a:bodyPr anchor="ctr"/>
          <a:lstStyle>
            <a:lvl1pPr algn="l"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раздела в одну</a:t>
            </a:r>
            <a:br>
              <a:rPr lang="ru-RU" dirty="0"/>
            </a:br>
            <a:r>
              <a:rPr lang="ru-RU" dirty="0"/>
              <a:t>или две строки</a:t>
            </a:r>
          </a:p>
        </p:txBody>
      </p:sp>
      <p:sp>
        <p:nvSpPr>
          <p:cNvPr id="7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3328375"/>
            <a:ext cx="9002712" cy="9334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Подзаголовок в одну или в две строки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9976B65-83D1-41EE-B90D-AC3864B6824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183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39788" y="2081352"/>
            <a:ext cx="9828212" cy="1212206"/>
          </a:xfrm>
          <a:prstGeom prst="rect">
            <a:avLst/>
          </a:prstGeom>
        </p:spPr>
        <p:txBody>
          <a:bodyPr anchor="ctr"/>
          <a:lstStyle>
            <a:lvl1pPr algn="l">
              <a:defRPr sz="3200" b="1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раздела в одну</a:t>
            </a:r>
            <a:br>
              <a:rPr lang="ru-RU" dirty="0"/>
            </a:br>
            <a:r>
              <a:rPr lang="ru-RU" dirty="0"/>
              <a:t>или две строки</a:t>
            </a:r>
          </a:p>
        </p:txBody>
      </p:sp>
      <p:sp>
        <p:nvSpPr>
          <p:cNvPr id="7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839788" y="3328375"/>
            <a:ext cx="9002712" cy="9334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Подзаголовок в одну или в две строки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9976B65-83D1-41EE-B90D-AC3864B6824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916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838200" y="586740"/>
            <a:ext cx="1051560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4"/>
          </p:nvPr>
        </p:nvSpPr>
        <p:spPr>
          <a:xfrm>
            <a:off x="0" y="6586330"/>
            <a:ext cx="2743200" cy="2716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rgbClr val="FF0000"/>
                </a:solidFill>
              </a:defRPr>
            </a:lvl1pPr>
          </a:lstStyle>
          <a:p>
            <a:fld id="{C9976B65-83D1-41EE-B90D-AC3864B6824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259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65" r:id="rId4"/>
    <p:sldLayoutId id="2147483666" r:id="rId5"/>
    <p:sldLayoutId id="2147483661" r:id="rId6"/>
    <p:sldLayoutId id="2147483662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FF0000"/>
          </a:solidFill>
          <a:latin typeface="Onest SemiBold" panose="020B060402020202020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Wix Madefor Display" panose="020B0604020202020204" charset="-52"/>
          <a:ea typeface="+mn-ea"/>
          <a:cs typeface="Wix Madefor Display" panose="020B0604020202020204" charset="-5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E08D9EF-AE42-1AED-3E38-7D8958454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88" y="1898471"/>
            <a:ext cx="11352212" cy="1212206"/>
          </a:xfrm>
        </p:spPr>
        <p:txBody>
          <a:bodyPr/>
          <a:lstStyle/>
          <a:p>
            <a:r>
              <a:rPr lang="ru-RU" sz="3500" b="0" dirty="0"/>
              <a:t>Юнит-тесты в 1С: паттерны проектирования</a:t>
            </a:r>
            <a:endParaRPr lang="ru-RU" sz="3500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687CEC0-250D-F240-63C3-0477FB3078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dirty="0"/>
              <a:t>Штифонов Максим Александрович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DFB7EA1-6285-575F-1207-CA6EB61A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Как писать тесты без проблем</a:t>
            </a:r>
          </a:p>
        </p:txBody>
      </p:sp>
    </p:spTree>
    <p:extLst>
      <p:ext uri="{BB962C8B-B14F-4D97-AF65-F5344CB8AC3E}">
        <p14:creationId xmlns:p14="http://schemas.microsoft.com/office/powerpoint/2010/main" val="880324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706438" y="1056009"/>
            <a:ext cx="9828212" cy="1212206"/>
          </a:xfrm>
        </p:spPr>
        <p:txBody>
          <a:bodyPr/>
          <a:lstStyle/>
          <a:p>
            <a:r>
              <a:rPr lang="ru-RU" sz="3600" dirty="0"/>
              <a:t>План доклада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792163" y="2428875"/>
            <a:ext cx="9828212" cy="3390900"/>
          </a:xfrm>
        </p:spPr>
        <p:txBody>
          <a:bodyPr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3200" dirty="0"/>
              <a:t>Знакомство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3200" dirty="0"/>
              <a:t>Состояние тестирования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3200" dirty="0"/>
              <a:t>Определение юнит теста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3200" dirty="0"/>
              <a:t>Паттерны проектирования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3200" dirty="0"/>
              <a:t>Внедрение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3200" dirty="0"/>
              <a:t>Выводы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 sz="3200" dirty="0"/>
              <a:t>Вопросы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0" y="6586538"/>
            <a:ext cx="2743200" cy="271462"/>
          </a:xfrm>
        </p:spPr>
        <p:txBody>
          <a:bodyPr/>
          <a:lstStyle/>
          <a:p>
            <a:fld id="{C9976B65-83D1-41EE-B90D-AC3864B6824A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162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>
          <a:xfrm>
            <a:off x="838199" y="1367883"/>
            <a:ext cx="5428785" cy="5050380"/>
          </a:xfrm>
        </p:spPr>
        <p:txBody>
          <a:bodyPr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ru-RU" dirty="0"/>
          </a:p>
          <a:p>
            <a:r>
              <a:rPr lang="ru-RU" sz="2000" dirty="0"/>
              <a:t>Разрабатываю с помощью GIT без EDT</a:t>
            </a:r>
          </a:p>
          <a:p>
            <a:endParaRPr lang="ru-RU" sz="2000" dirty="0"/>
          </a:p>
          <a:p>
            <a:pPr lvl="0"/>
            <a:r>
              <a:rPr lang="ru-RU" sz="2000" dirty="0"/>
              <a:t>Выпускник чистого кода</a:t>
            </a:r>
          </a:p>
          <a:p>
            <a:pPr lvl="0"/>
            <a:endParaRPr lang="ru-RU" sz="2000" dirty="0"/>
          </a:p>
          <a:p>
            <a:r>
              <a:rPr lang="ru-RU" sz="2000" dirty="0"/>
              <a:t>Сдал спеца в 20 лет, ни дня не проработав в 1С.</a:t>
            </a:r>
          </a:p>
          <a:p>
            <a:endParaRPr lang="ru-RU" sz="2000" dirty="0"/>
          </a:p>
          <a:p>
            <a:r>
              <a:rPr lang="ru-RU" sz="2000" dirty="0"/>
              <a:t>Пишу тесты и внедряю практику в команды</a:t>
            </a:r>
          </a:p>
          <a:p>
            <a:endParaRPr lang="ru-RU" sz="2000" dirty="0"/>
          </a:p>
          <a:p>
            <a:r>
              <a:rPr lang="ru-RU" sz="2000" dirty="0"/>
              <a:t>Прошел </a:t>
            </a:r>
            <a:r>
              <a:rPr lang="ru-RU" sz="2000" dirty="0" err="1"/>
              <a:t>Fallout</a:t>
            </a:r>
            <a:r>
              <a:rPr lang="ru-RU" sz="2000" dirty="0"/>
              <a:t> New Vegas более 10 раз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Я?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7BA179D-409F-458E-BD27-8037AFAADA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5" t="34542" r="16570" b="6516"/>
          <a:stretch/>
        </p:blipFill>
        <p:spPr>
          <a:xfrm>
            <a:off x="7203155" y="820444"/>
            <a:ext cx="4531645" cy="4531645"/>
          </a:xfrm>
          <a:prstGeom prst="ellipse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6787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КТО МЫ?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294967295"/>
          </p:nvPr>
        </p:nvSpPr>
        <p:spPr>
          <a:xfrm>
            <a:off x="0" y="6586538"/>
            <a:ext cx="2743200" cy="271462"/>
          </a:xfrm>
        </p:spPr>
        <p:txBody>
          <a:bodyPr/>
          <a:lstStyle/>
          <a:p>
            <a:fld id="{C9976B65-83D1-41EE-B90D-AC3864B6824A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104" y="890014"/>
            <a:ext cx="4373257" cy="354035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859" y="4430373"/>
            <a:ext cx="4639748" cy="155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6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Состояние тестирования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294967295"/>
          </p:nvPr>
        </p:nvSpPr>
        <p:spPr>
          <a:xfrm>
            <a:off x="0" y="6586538"/>
            <a:ext cx="2743200" cy="271462"/>
          </a:xfrm>
        </p:spPr>
        <p:txBody>
          <a:bodyPr/>
          <a:lstStyle/>
          <a:p>
            <a:fld id="{C9976B65-83D1-41EE-B90D-AC3864B6824A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6" name="Google Shape;86;p17">
            <a:extLst>
              <a:ext uri="{FF2B5EF4-FFF2-40B4-BE49-F238E27FC236}">
                <a16:creationId xmlns:a16="http://schemas.microsoft.com/office/drawing/2014/main" id="{171DDF94-6334-4E37-94E1-43464DCB4632}"/>
              </a:ext>
            </a:extLst>
          </p:cNvPr>
          <p:cNvSpPr txBox="1">
            <a:spLocks/>
          </p:cNvSpPr>
          <p:nvPr/>
        </p:nvSpPr>
        <p:spPr>
          <a:xfrm>
            <a:off x="695325" y="1365100"/>
            <a:ext cx="3971925" cy="1463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Wix Madefor Display" panose="020B0604020202020204" charset="-52"/>
                <a:ea typeface="+mn-ea"/>
                <a:cs typeface="Wix Madefor Display" panose="020B0604020202020204" charset="-5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>
              <a:spcBef>
                <a:spcPts val="0"/>
              </a:spcBef>
              <a:buSzPts val="1800"/>
            </a:pPr>
            <a:r>
              <a:rPr lang="ru-RU" dirty="0"/>
              <a:t>Причины: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Ограничения платформы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Подходы к разработке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ru-RU" dirty="0"/>
          </a:p>
        </p:txBody>
      </p:sp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377142A2-5E73-4FED-9C57-999C220CFC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4713872"/>
              </p:ext>
            </p:extLst>
          </p:nvPr>
        </p:nvGraphicFramePr>
        <p:xfrm>
          <a:off x="4752975" y="2009777"/>
          <a:ext cx="3815715" cy="3236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247076A4-BA3A-41DD-8A61-543F7ACA19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6816621"/>
              </p:ext>
            </p:extLst>
          </p:nvPr>
        </p:nvGraphicFramePr>
        <p:xfrm>
          <a:off x="7821929" y="2009776"/>
          <a:ext cx="3884295" cy="3236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395677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E6522C-664A-418A-8B47-6B388AF67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Что такое юнит тест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22A9F8-7047-4C66-A37D-F89E8B38B0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0625" y="1750327"/>
            <a:ext cx="9810750" cy="4831510"/>
          </a:xfrm>
        </p:spPr>
        <p:txBody>
          <a:bodyPr/>
          <a:lstStyle/>
          <a:p>
            <a:r>
              <a:rPr lang="ru-RU" sz="2800" b="1" dirty="0"/>
              <a:t>Юнит-тест </a:t>
            </a:r>
            <a:r>
              <a:rPr lang="ru-RU" sz="2800" dirty="0"/>
              <a:t>- это автоматизированный тест, который проверяет корректность работы отдельной, минимальной части программы в </a:t>
            </a:r>
            <a:r>
              <a:rPr lang="ru-RU" sz="2800" b="1" dirty="0"/>
              <a:t>изоляции</a:t>
            </a:r>
            <a:r>
              <a:rPr lang="ru-RU" sz="2800" dirty="0"/>
              <a:t> от всех остальных частей.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65AD2A-47A1-4A4A-AADE-69D3F97FF9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2245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B3838-3CCB-4D38-9229-B3921D69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YAxUnit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BB5D27-A030-4B17-B432-106B963D77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74BC17-15A9-4444-B0FD-2C390FB57A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850"/>
          <a:stretch/>
        </p:blipFill>
        <p:spPr>
          <a:xfrm>
            <a:off x="1575370" y="1246095"/>
            <a:ext cx="8479573" cy="456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4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61E2C0-5007-4731-A23A-2CEB557CE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Подходы в изоляции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577D07-7A49-49C8-86DE-B03D27C229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C86EB9-17AD-42E6-8833-2DDB0C8D4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347" y="1381827"/>
            <a:ext cx="8775305" cy="4094345"/>
          </a:xfrm>
          <a:prstGeom prst="rect">
            <a:avLst/>
          </a:prstGeom>
          <a:solidFill>
            <a:schemeClr val="accent1"/>
          </a:solidFill>
          <a:ln w="38100" cap="sq">
            <a:solidFill>
              <a:srgbClr val="FF0000">
                <a:alpha val="22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4388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9360C-B82E-49AC-8F7D-BFC8E0ECD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Изоляция по классике(детроит)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CCEB45-E5A8-4C99-9455-FF55C60FA1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7" name="Скругленный прямоугольник 1">
            <a:extLst>
              <a:ext uri="{FF2B5EF4-FFF2-40B4-BE49-F238E27FC236}">
                <a16:creationId xmlns:a16="http://schemas.microsoft.com/office/drawing/2014/main" id="{9AA0ADCB-3501-4520-B932-9BF6C300F2DC}"/>
              </a:ext>
            </a:extLst>
          </p:cNvPr>
          <p:cNvSpPr/>
          <p:nvPr/>
        </p:nvSpPr>
        <p:spPr>
          <a:xfrm>
            <a:off x="2000235" y="3228817"/>
            <a:ext cx="2362215" cy="114043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Wix Madefor Display" panose="020B0604020202020204" charset="-52"/>
                <a:cs typeface="Wix Madefor Display" panose="020B0604020202020204" charset="-52"/>
              </a:rPr>
              <a:t>Тестируемая система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09385D22-B400-4E20-8EFF-6B9DE3EF76EB}"/>
              </a:ext>
            </a:extLst>
          </p:cNvPr>
          <p:cNvSpPr/>
          <p:nvPr/>
        </p:nvSpPr>
        <p:spPr>
          <a:xfrm>
            <a:off x="5781767" y="1533525"/>
            <a:ext cx="1628668" cy="143233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Wix Madefor Display" panose="020B0604020202020204" charset="-52"/>
                <a:cs typeface="Wix Madefor Display" panose="020B0604020202020204" charset="-52"/>
              </a:rPr>
              <a:t>Первая</a:t>
            </a: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AD611E3-186B-460F-B0ED-21DA78236B25}"/>
              </a:ext>
            </a:extLst>
          </p:cNvPr>
          <p:cNvSpPr/>
          <p:nvPr/>
        </p:nvSpPr>
        <p:spPr>
          <a:xfrm>
            <a:off x="5822862" y="3062773"/>
            <a:ext cx="1586089" cy="143233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Wix Madefor Display" panose="020B0604020202020204" charset="-52"/>
                <a:cs typeface="Wix Madefor Display" panose="020B0604020202020204" charset="-52"/>
              </a:rPr>
              <a:t>Вторая</a:t>
            </a: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F4D74A0F-6C45-4307-B0BF-0BC72AD6C208}"/>
              </a:ext>
            </a:extLst>
          </p:cNvPr>
          <p:cNvCxnSpPr>
            <a:cxnSpLocks/>
            <a:stCxn id="27" idx="3"/>
            <a:endCxn id="28" idx="2"/>
          </p:cNvCxnSpPr>
          <p:nvPr/>
        </p:nvCxnSpPr>
        <p:spPr>
          <a:xfrm flipV="1">
            <a:off x="4362450" y="2249692"/>
            <a:ext cx="1419317" cy="1549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50F9E8F0-977A-4579-A561-9A314381EFC1}"/>
              </a:ext>
            </a:extLst>
          </p:cNvPr>
          <p:cNvCxnSpPr>
            <a:cxnSpLocks/>
            <a:stCxn id="27" idx="3"/>
            <a:endCxn id="29" idx="2"/>
          </p:cNvCxnSpPr>
          <p:nvPr/>
        </p:nvCxnSpPr>
        <p:spPr>
          <a:xfrm flipV="1">
            <a:off x="4362450" y="3778940"/>
            <a:ext cx="1460412" cy="20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32" name="Овал 31">
            <a:extLst>
              <a:ext uri="{FF2B5EF4-FFF2-40B4-BE49-F238E27FC236}">
                <a16:creationId xmlns:a16="http://schemas.microsoft.com/office/drawing/2014/main" id="{844EE3F8-5769-4BBE-9940-71716B3FDA3D}"/>
              </a:ext>
            </a:extLst>
          </p:cNvPr>
          <p:cNvSpPr/>
          <p:nvPr/>
        </p:nvSpPr>
        <p:spPr>
          <a:xfrm>
            <a:off x="5781766" y="4592021"/>
            <a:ext cx="1586089" cy="1432334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Wix Madefor Display" panose="020B0604020202020204" charset="-52"/>
                <a:cs typeface="Wix Madefor Display" panose="020B0604020202020204" charset="-52"/>
              </a:rPr>
              <a:t>…</a:t>
            </a:r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AFC8AF68-77C0-4FA1-BE6F-1492B02746B9}"/>
              </a:ext>
            </a:extLst>
          </p:cNvPr>
          <p:cNvCxnSpPr>
            <a:cxnSpLocks/>
            <a:stCxn id="27" idx="3"/>
            <a:endCxn id="32" idx="2"/>
          </p:cNvCxnSpPr>
          <p:nvPr/>
        </p:nvCxnSpPr>
        <p:spPr>
          <a:xfrm>
            <a:off x="4362450" y="3799033"/>
            <a:ext cx="1419316" cy="1509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7AA0732-C5CC-48B2-948A-C307A888C706}"/>
              </a:ext>
            </a:extLst>
          </p:cNvPr>
          <p:cNvSpPr txBox="1"/>
          <p:nvPr/>
        </p:nvSpPr>
        <p:spPr>
          <a:xfrm>
            <a:off x="7621264" y="3598977"/>
            <a:ext cx="18485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Wix Madefor Display" panose="020B0604020202020204" charset="-52"/>
                <a:cs typeface="Wix Madefor Display" panose="020B0604020202020204" charset="-52"/>
              </a:rPr>
              <a:t>Зависимости</a:t>
            </a:r>
          </a:p>
        </p:txBody>
      </p:sp>
    </p:spTree>
    <p:extLst>
      <p:ext uri="{BB962C8B-B14F-4D97-AF65-F5344CB8AC3E}">
        <p14:creationId xmlns:p14="http://schemas.microsoft.com/office/powerpoint/2010/main" val="1307224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C6A9E-A37E-480D-BD7A-5A23284F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Изоляция по-лондонски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F9648B-DF8E-42B4-AF0D-492ABCACD9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10</a:t>
            </a:fld>
            <a:endParaRPr lang="ru-RU" dirty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B9CBCC0-5F51-45A5-B880-05C24590D28B}"/>
              </a:ext>
            </a:extLst>
          </p:cNvPr>
          <p:cNvGrpSpPr/>
          <p:nvPr/>
        </p:nvGrpSpPr>
        <p:grpSpPr>
          <a:xfrm>
            <a:off x="1125368" y="1454962"/>
            <a:ext cx="5025963" cy="2787750"/>
            <a:chOff x="1116333" y="606177"/>
            <a:chExt cx="7410511" cy="2921396"/>
          </a:xfrm>
        </p:grpSpPr>
        <p:sp>
          <p:nvSpPr>
            <p:cNvPr id="7" name="Скругленный прямоугольник 6">
              <a:extLst>
                <a:ext uri="{FF2B5EF4-FFF2-40B4-BE49-F238E27FC236}">
                  <a16:creationId xmlns:a16="http://schemas.microsoft.com/office/drawing/2014/main" id="{C7ECE328-7F57-43A4-B024-AA973D4FF4CD}"/>
                </a:ext>
              </a:extLst>
            </p:cNvPr>
            <p:cNvSpPr/>
            <p:nvPr/>
          </p:nvSpPr>
          <p:spPr>
            <a:xfrm>
              <a:off x="1116333" y="1487656"/>
              <a:ext cx="2720565" cy="1140431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latin typeface="Wix Madefor Display" panose="020B0604020202020204" charset="-52"/>
                  <a:cs typeface="Wix Madefor Display" panose="020B0604020202020204" charset="-52"/>
                </a:rPr>
                <a:t>Тест система</a:t>
              </a: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B2A4A748-4605-4E46-ADEF-F82040DB4A90}"/>
                </a:ext>
              </a:extLst>
            </p:cNvPr>
            <p:cNvSpPr/>
            <p:nvPr/>
          </p:nvSpPr>
          <p:spPr>
            <a:xfrm>
              <a:off x="5095982" y="606177"/>
              <a:ext cx="1786829" cy="1392148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dirty="0"/>
                <a:t>1</a:t>
              </a:r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FBC2C165-A2E9-41A0-A41C-1546D4F5C797}"/>
                </a:ext>
              </a:extLst>
            </p:cNvPr>
            <p:cNvSpPr/>
            <p:nvPr/>
          </p:nvSpPr>
          <p:spPr>
            <a:xfrm>
              <a:off x="5137076" y="2135425"/>
              <a:ext cx="1745734" cy="1392148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dirty="0"/>
                <a:t>2</a:t>
              </a:r>
            </a:p>
          </p:txBody>
        </p:sp>
        <p:cxnSp>
          <p:nvCxnSpPr>
            <p:cNvPr id="10" name="Прямая со стрелкой 9">
              <a:extLst>
                <a:ext uri="{FF2B5EF4-FFF2-40B4-BE49-F238E27FC236}">
                  <a16:creationId xmlns:a16="http://schemas.microsoft.com/office/drawing/2014/main" id="{81EB9CA2-9912-45B2-94A9-6D78FE40692F}"/>
                </a:ext>
              </a:extLst>
            </p:cNvPr>
            <p:cNvCxnSpPr>
              <a:cxnSpLocks/>
              <a:stCxn id="7" idx="3"/>
              <a:endCxn id="8" idx="2"/>
            </p:cNvCxnSpPr>
            <p:nvPr/>
          </p:nvCxnSpPr>
          <p:spPr>
            <a:xfrm flipV="1">
              <a:off x="3836898" y="1302252"/>
              <a:ext cx="1259084" cy="7556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54C8D711-0FCF-4134-A84E-D30D3312BF41}"/>
                </a:ext>
              </a:extLst>
            </p:cNvPr>
            <p:cNvCxnSpPr>
              <a:cxnSpLocks/>
              <a:stCxn id="7" idx="3"/>
              <a:endCxn id="9" idx="2"/>
            </p:cNvCxnSpPr>
            <p:nvPr/>
          </p:nvCxnSpPr>
          <p:spPr>
            <a:xfrm>
              <a:off x="3836898" y="2057872"/>
              <a:ext cx="1300178" cy="7736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2EB53B-7A20-4B78-8972-F5989F0F78D1}"/>
                </a:ext>
              </a:extLst>
            </p:cNvPr>
            <p:cNvSpPr txBox="1"/>
            <p:nvPr/>
          </p:nvSpPr>
          <p:spPr>
            <a:xfrm>
              <a:off x="6644992" y="1834580"/>
              <a:ext cx="1881852" cy="3870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800" dirty="0">
                  <a:latin typeface="Wix Madefor Display" panose="020B0604020202020204" charset="-52"/>
                  <a:cs typeface="Wix Madefor Display" panose="020B0604020202020204" charset="-52"/>
                </a:rPr>
                <a:t>Заглушки</a:t>
              </a:r>
            </a:p>
          </p:txBody>
        </p:sp>
      </p:grpSp>
      <p:sp>
        <p:nvSpPr>
          <p:cNvPr id="13" name="Ромб 12">
            <a:extLst>
              <a:ext uri="{FF2B5EF4-FFF2-40B4-BE49-F238E27FC236}">
                <a16:creationId xmlns:a16="http://schemas.microsoft.com/office/drawing/2014/main" id="{5BBD5EE2-0AA5-40B0-9DE5-D2CE77C625DB}"/>
              </a:ext>
            </a:extLst>
          </p:cNvPr>
          <p:cNvSpPr/>
          <p:nvPr/>
        </p:nvSpPr>
        <p:spPr>
          <a:xfrm>
            <a:off x="6784327" y="3721169"/>
            <a:ext cx="961650" cy="983225"/>
          </a:xfrm>
          <a:prstGeom prst="diamond">
            <a:avLst/>
          </a:prstGeom>
          <a:solidFill>
            <a:srgbClr val="5F5AA6"/>
          </a:solidFill>
          <a:ln>
            <a:solidFill>
              <a:srgbClr val="5F5AA6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1</a:t>
            </a:r>
          </a:p>
        </p:txBody>
      </p:sp>
      <p:sp>
        <p:nvSpPr>
          <p:cNvPr id="14" name="Ромб 13">
            <a:extLst>
              <a:ext uri="{FF2B5EF4-FFF2-40B4-BE49-F238E27FC236}">
                <a16:creationId xmlns:a16="http://schemas.microsoft.com/office/drawing/2014/main" id="{56555BCA-ACE9-4CC7-AD3F-69BBD7485E5A}"/>
              </a:ext>
            </a:extLst>
          </p:cNvPr>
          <p:cNvSpPr/>
          <p:nvPr/>
        </p:nvSpPr>
        <p:spPr>
          <a:xfrm>
            <a:off x="6784326" y="4756956"/>
            <a:ext cx="961650" cy="983225"/>
          </a:xfrm>
          <a:prstGeom prst="diamond">
            <a:avLst/>
          </a:prstGeom>
          <a:solidFill>
            <a:srgbClr val="5F5AA6"/>
          </a:solidFill>
          <a:ln>
            <a:solidFill>
              <a:srgbClr val="5F5AA6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2</a:t>
            </a:r>
          </a:p>
        </p:txBody>
      </p:sp>
      <p:sp>
        <p:nvSpPr>
          <p:cNvPr id="15" name="Скругленный прямоугольник 15">
            <a:extLst>
              <a:ext uri="{FF2B5EF4-FFF2-40B4-BE49-F238E27FC236}">
                <a16:creationId xmlns:a16="http://schemas.microsoft.com/office/drawing/2014/main" id="{36921478-0FE3-4CFA-857B-3AB7F38B359B}"/>
              </a:ext>
            </a:extLst>
          </p:cNvPr>
          <p:cNvSpPr/>
          <p:nvPr/>
        </p:nvSpPr>
        <p:spPr>
          <a:xfrm>
            <a:off x="8687189" y="3817377"/>
            <a:ext cx="1445924" cy="801854"/>
          </a:xfrm>
          <a:prstGeom prst="roundRect">
            <a:avLst/>
          </a:prstGeom>
          <a:solidFill>
            <a:srgbClr val="5F5AA6"/>
          </a:solidFill>
          <a:ln>
            <a:solidFill>
              <a:srgbClr val="5F5AA6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1</a:t>
            </a:r>
          </a:p>
        </p:txBody>
      </p:sp>
      <p:sp>
        <p:nvSpPr>
          <p:cNvPr id="16" name="Скругленный прямоугольник 20">
            <a:extLst>
              <a:ext uri="{FF2B5EF4-FFF2-40B4-BE49-F238E27FC236}">
                <a16:creationId xmlns:a16="http://schemas.microsoft.com/office/drawing/2014/main" id="{E86858C5-441B-4F1B-9157-9F4622BE4198}"/>
              </a:ext>
            </a:extLst>
          </p:cNvPr>
          <p:cNvSpPr/>
          <p:nvPr/>
        </p:nvSpPr>
        <p:spPr>
          <a:xfrm>
            <a:off x="8687190" y="4849892"/>
            <a:ext cx="1445924" cy="801854"/>
          </a:xfrm>
          <a:prstGeom prst="roundRect">
            <a:avLst/>
          </a:prstGeom>
          <a:solidFill>
            <a:srgbClr val="5F5AA6"/>
          </a:solidFill>
          <a:ln>
            <a:solidFill>
              <a:srgbClr val="5F5AA6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2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A1C2983B-1360-45BF-B8EE-A6108C1832C4}"/>
              </a:ext>
            </a:extLst>
          </p:cNvPr>
          <p:cNvSpPr/>
          <p:nvPr/>
        </p:nvSpPr>
        <p:spPr>
          <a:xfrm>
            <a:off x="6293224" y="3429000"/>
            <a:ext cx="2054209" cy="2616345"/>
          </a:xfrm>
          <a:prstGeom prst="roundRect">
            <a:avLst/>
          </a:prstGeom>
          <a:noFill/>
          <a:ln>
            <a:solidFill>
              <a:srgbClr val="5F5AA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22">
            <a:extLst>
              <a:ext uri="{FF2B5EF4-FFF2-40B4-BE49-F238E27FC236}">
                <a16:creationId xmlns:a16="http://schemas.microsoft.com/office/drawing/2014/main" id="{BE29F430-8B97-40E1-85FA-AE292AB3ED88}"/>
              </a:ext>
            </a:extLst>
          </p:cNvPr>
          <p:cNvSpPr/>
          <p:nvPr/>
        </p:nvSpPr>
        <p:spPr>
          <a:xfrm>
            <a:off x="8413766" y="3429000"/>
            <a:ext cx="2054209" cy="2616345"/>
          </a:xfrm>
          <a:prstGeom prst="roundRect">
            <a:avLst/>
          </a:prstGeom>
          <a:noFill/>
          <a:ln>
            <a:solidFill>
              <a:srgbClr val="5F5AA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ECF16E54-FD97-42E4-8E17-E55D711D5FAB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7745977" y="4212782"/>
            <a:ext cx="941212" cy="5522"/>
          </a:xfrm>
          <a:prstGeom prst="straightConnector1">
            <a:avLst/>
          </a:prstGeom>
          <a:ln>
            <a:solidFill>
              <a:srgbClr val="5F5AA6"/>
            </a:solidFill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8907F1A8-9018-45E6-B22C-1F061D654F8E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7745976" y="5248569"/>
            <a:ext cx="941214" cy="2250"/>
          </a:xfrm>
          <a:prstGeom prst="straightConnector1">
            <a:avLst/>
          </a:prstGeom>
          <a:ln>
            <a:solidFill>
              <a:srgbClr val="5F5AA6"/>
            </a:solidFill>
            <a:tailEnd type="triangl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62A119F-B36B-46A5-B990-7793225362EE}"/>
              </a:ext>
            </a:extLst>
          </p:cNvPr>
          <p:cNvSpPr txBox="1"/>
          <p:nvPr/>
        </p:nvSpPr>
        <p:spPr>
          <a:xfrm>
            <a:off x="6974424" y="5730007"/>
            <a:ext cx="854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Wix Madefor Display" panose="020B0604020202020204" charset="-52"/>
                <a:cs typeface="Wix Madefor Display" panose="020B0604020202020204" charset="-52"/>
              </a:rPr>
              <a:t>Тесты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A6BD7C-384F-4A58-B8C9-B972B545ADDA}"/>
              </a:ext>
            </a:extLst>
          </p:cNvPr>
          <p:cNvSpPr txBox="1"/>
          <p:nvPr/>
        </p:nvSpPr>
        <p:spPr>
          <a:xfrm>
            <a:off x="9028633" y="5716576"/>
            <a:ext cx="991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Wix Madefor Display" panose="020B0604020202020204" charset="-52"/>
                <a:cs typeface="Wix Madefor Display" panose="020B0604020202020204" charset="-52"/>
              </a:rPr>
              <a:t>Классы</a:t>
            </a:r>
          </a:p>
        </p:txBody>
      </p:sp>
    </p:spTree>
    <p:extLst>
      <p:ext uri="{BB962C8B-B14F-4D97-AF65-F5344CB8AC3E}">
        <p14:creationId xmlns:p14="http://schemas.microsoft.com/office/powerpoint/2010/main" val="177566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C7F8D3-D46A-427D-B1CD-A495B7DE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изоляции по школам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A76DE4-4063-43E6-8BF5-921C4C1893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302487" y="1456835"/>
            <a:ext cx="10051313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УстановитьСтатусПоСкладу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СтатусУстановка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Перечисления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.СтатусыНакладной.ПустаяСсылка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AF00DB"/>
                </a:solidFill>
                <a:latin typeface="Consolas" panose="020B0609020204030204" pitchFamily="49" charset="0"/>
              </a:rPr>
              <a:t>Если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Склад.Доступный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ru-RU" b="1" dirty="0">
                <a:solidFill>
                  <a:srgbClr val="AF00DB"/>
                </a:solidFill>
                <a:latin typeface="Consolas" panose="020B0609020204030204" pitchFamily="49" charset="0"/>
              </a:rPr>
              <a:t>Тогда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СтатусУстановка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Перечисления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.СтатусыНакладной.СтатусАктивный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AF00DB"/>
                </a:solidFill>
                <a:latin typeface="Consolas" panose="020B0609020204030204" pitchFamily="49" charset="0"/>
              </a:rPr>
              <a:t>Иначе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СтатусУстановка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Перечисления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.СтатусыНакладной.СтатусПассивный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AF00DB"/>
                </a:solidFill>
                <a:latin typeface="Consolas" panose="020B0609020204030204" pitchFamily="49" charset="0"/>
              </a:rPr>
              <a:t>КонецЕсли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Статус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СтатусУстановка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918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2D5BE-9599-46E7-85C0-0556776E4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Изоляция по классике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881AA5-1ACF-4B25-925A-28B0C8CCC3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78543" y="1246095"/>
            <a:ext cx="11353800" cy="50783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УстановитьСтатусПоСкладу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Склад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ЮТест.Данные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КонструкторОбъекта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Справочники.Склады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НовыйОбъект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УстановитьДоступностьСклада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Истина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Склад.Записать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Накладная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ЮТест.Данные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КонструкторОбъекта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Документы.Накладная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.Установить(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"Склад"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Склад)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НовыйОбъект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Накладная.УстановитьСтатусПоСкладу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(Накладная)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.Свойство(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"Статус"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).Равно(</a:t>
            </a:r>
            <a:r>
              <a:rPr lang="ru-RU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Перечисления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.СтатусыНакладной.СтатусАктивный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633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10952-75AB-4D96-AE56-9D16CCE6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Изоляция по лондонски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FD0055-BCA0-4186-89BB-7ACB170EF9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17598" y="1201990"/>
            <a:ext cx="10871200" cy="53553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УстановитьСтатусПоСкладу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8000"/>
                </a:solidFill>
                <a:latin typeface="Consolas" panose="020B0609020204030204" pitchFamily="49" charset="0"/>
              </a:rPr>
              <a:t>//Наш "секретный" метод, создает заполненную ссылку без записи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Склад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ЦФТ_ТестовыеДанные.ЗаполненнаяТестоваяСсылка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Справочники.Склады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Накладная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ЮТест.Данные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КонструкторОбъекта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Документы.Накладная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.Установить(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"Склад"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Склад)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НовыйОбъект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Мокито.Обучение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Справочники.Склады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.Когда(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"Доступный"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).Вернуть(</a:t>
            </a:r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Истина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.Прогон()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Накладная.УстановитьСтатусПоСкладу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(Накладная)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.Свойство(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"Статус"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).Равно(</a:t>
            </a:r>
            <a:r>
              <a:rPr lang="ru-RU" b="1" dirty="0" err="1">
                <a:solidFill>
                  <a:srgbClr val="267F99"/>
                </a:solidFill>
                <a:latin typeface="Consolas" panose="020B0609020204030204" pitchFamily="49" charset="0"/>
              </a:rPr>
              <a:t>Перечисления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.СтатусыНакладной.СтатусАктивный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716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579739" y="73778"/>
            <a:ext cx="9828212" cy="1212206"/>
          </a:xfrm>
        </p:spPr>
        <p:txBody>
          <a:bodyPr/>
          <a:lstStyle/>
          <a:p>
            <a:r>
              <a:rPr lang="ru" sz="2800" dirty="0"/>
              <a:t>Вывод по школам тестирования</a:t>
            </a:r>
            <a:endParaRPr lang="ru-RU" sz="2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0" y="6586538"/>
            <a:ext cx="2743200" cy="271462"/>
          </a:xfrm>
        </p:spPr>
        <p:txBody>
          <a:bodyPr/>
          <a:lstStyle/>
          <a:p>
            <a:fld id="{C9976B65-83D1-41EE-B90D-AC3864B6824A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B2177F-ECB4-4997-87F4-F3817341DF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6"/>
          <a:stretch/>
        </p:blipFill>
        <p:spPr>
          <a:xfrm>
            <a:off x="2743200" y="1285984"/>
            <a:ext cx="4893396" cy="530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11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50FA5-65B4-40B9-AFFC-0DC6C050C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498" y="2216794"/>
            <a:ext cx="9828212" cy="1212206"/>
          </a:xfrm>
        </p:spPr>
        <p:txBody>
          <a:bodyPr/>
          <a:lstStyle/>
          <a:p>
            <a:r>
              <a:rPr lang="ru-RU" b="1" dirty="0"/>
              <a:t>Имплементация</a:t>
            </a:r>
            <a:r>
              <a:rPr lang="ru-RU" dirty="0"/>
              <a:t> - конкретная техническая реализация функциональности в коде.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AD3C93-06CB-4767-A998-714A0ECD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2716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AD3C93-06CB-4767-A998-714A0ECD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0AFA561-37C3-4161-8EF4-136AF60240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88" y="698280"/>
            <a:ext cx="3574835" cy="3574835"/>
          </a:xfrm>
          <a:prstGeom prst="rect">
            <a:avLst/>
          </a:prstGeom>
        </p:spPr>
      </p:pic>
      <p:pic>
        <p:nvPicPr>
          <p:cNvPr id="1030" name="Picture 6" descr="Предварительный просмотр изображения">
            <a:extLst>
              <a:ext uri="{FF2B5EF4-FFF2-40B4-BE49-F238E27FC236}">
                <a16:creationId xmlns:a16="http://schemas.microsoft.com/office/drawing/2014/main" id="{96D84449-AA29-40FB-83C9-E432AFBB0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622" y="3088349"/>
            <a:ext cx="4016829" cy="401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Предварительный просмотр изображения">
            <a:extLst>
              <a:ext uri="{FF2B5EF4-FFF2-40B4-BE49-F238E27FC236}">
                <a16:creationId xmlns:a16="http://schemas.microsoft.com/office/drawing/2014/main" id="{B6AE802B-BC5D-4858-A993-1E26644C3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082" y="271670"/>
            <a:ext cx="3668486" cy="366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337095A8-1B90-4019-814F-515E3B1C2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327" y="271670"/>
            <a:ext cx="9828212" cy="1212206"/>
          </a:xfrm>
        </p:spPr>
        <p:txBody>
          <a:bodyPr/>
          <a:lstStyle/>
          <a:p>
            <a:r>
              <a:rPr lang="ru-RU" b="1" dirty="0"/>
              <a:t>Поведение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3628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58D98EA-D557-4641-804C-C194BCFF2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Детали имплементации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1A7155-2989-4CFF-B182-B753A30A73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3D0D5435-CB28-472C-AF59-8F4522806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587501"/>
            <a:ext cx="10515600" cy="851304"/>
          </a:xfrm>
        </p:spPr>
        <p:txBody>
          <a:bodyPr/>
          <a:lstStyle/>
          <a:p>
            <a:pPr marL="114300" indent="0">
              <a:buNone/>
            </a:pPr>
            <a:r>
              <a:rPr lang="ru-RU" b="1" dirty="0"/>
              <a:t>Детали имплементации -</a:t>
            </a:r>
            <a:r>
              <a:rPr lang="ru-RU" dirty="0"/>
              <a:t> это те аспекты теста, которые проверяют </a:t>
            </a:r>
            <a:r>
              <a:rPr lang="ru-RU" b="1" dirty="0"/>
              <a:t>не поведение системы</a:t>
            </a:r>
            <a:r>
              <a:rPr lang="ru-RU" dirty="0"/>
              <a:t>, а то, как именно оно реализовано </a:t>
            </a:r>
            <a:r>
              <a:rPr lang="ru-RU" b="1" dirty="0"/>
              <a:t>внутри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24857" y="2942907"/>
            <a:ext cx="9942285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Функция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СуммаПоНДС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Сумма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Логгер.ЗаписатьСобытие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РасчетНДС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Коэффициент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КоэффициентыНДС.ТекущийКоэффициент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ТекущаяДатаСеанса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Результат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Сумма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Коэффициент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b="1" dirty="0">
                <a:solidFill>
                  <a:srgbClr val="AF00DB"/>
                </a:solidFill>
                <a:latin typeface="Consolas" panose="020B0609020204030204" pitchFamily="49" charset="0"/>
              </a:rPr>
              <a:t>Возврат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Результат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КонецФункции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634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170E2-ADF0-44C7-9827-9774670D0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деталей</a:t>
            </a:r>
            <a:br>
              <a:rPr lang="ru-RU" dirty="0"/>
            </a:br>
            <a:br>
              <a:rPr lang="ru-RU" dirty="0"/>
            </a:br>
            <a:r>
              <a:rPr lang="ru-RU" dirty="0"/>
              <a:t> 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913967-0C6C-426A-A676-5741701B1A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10972" y="1132750"/>
            <a:ext cx="7316266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4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СуммаПоНДС</a:t>
            </a:r>
            <a:r>
              <a:rPr lang="ru-RU" sz="1400" b="1" dirty="0">
                <a:solidFill>
                  <a:srgbClr val="795E26"/>
                </a:solidFill>
                <a:latin typeface="Consolas" panose="020B0609020204030204" pitchFamily="49" charset="0"/>
              </a:rPr>
              <a:t> 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400" b="1" dirty="0">
                <a:solidFill>
                  <a:srgbClr val="001080"/>
                </a:solidFill>
                <a:latin typeface="Consolas" panose="020B0609020204030204" pitchFamily="49" charset="0"/>
              </a:rPr>
              <a:t>Сумма</a:t>
            </a:r>
            <a:r>
              <a:rPr lang="ru-RU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4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РезультатПоСумме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//Мок для проверки, что расчет идет через коэффициент    </a:t>
            </a:r>
            <a:endParaRPr lang="ru-RU" sz="14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Мокито.Обучение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КоэффициентыНДС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.Наблюдать(</a:t>
            </a:r>
            <a:r>
              <a:rPr lang="ru-RU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ТекущийКоэффициент</a:t>
            </a:r>
            <a:r>
              <a:rPr lang="ru-RU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.Прогон()</a:t>
            </a:r>
            <a:r>
              <a:rPr lang="ru-RU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4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//Выполнение расчета</a:t>
            </a:r>
            <a:endParaRPr lang="ru-RU" sz="14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4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РезультатРасчета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НДС.СуммаПоНДС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(Сумма)</a:t>
            </a:r>
            <a:r>
              <a:rPr lang="ru-RU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//Проверка что записалось в </a:t>
            </a:r>
            <a:r>
              <a:rPr lang="ru-RU" sz="14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логи</a:t>
            </a:r>
            <a:endParaRPr lang="ru-RU" sz="14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ЮТест.ОжидаетЧтоТаблицаБазы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Справочник.Логи</a:t>
            </a:r>
            <a:r>
              <a:rPr lang="ru-RU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СодержитЗаписи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ЮТест.Предикат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.Реквизит(</a:t>
            </a:r>
            <a:r>
              <a:rPr lang="ru-RU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"Имя"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).Равно(</a:t>
            </a:r>
            <a:r>
              <a:rPr lang="ru-RU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РасчетНДС</a:t>
            </a:r>
            <a:r>
              <a:rPr lang="ru-RU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))</a:t>
            </a:r>
            <a:r>
              <a:rPr lang="ru-RU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4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//Проверка что расчет идет через коэффициент</a:t>
            </a:r>
            <a:endParaRPr lang="ru-RU" sz="14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Мокито.Проверить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КоэффициентыНДС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КоличествоВызовов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ТекущийКоэффициент</a:t>
            </a:r>
            <a:r>
              <a:rPr lang="ru-RU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.Равно(</a:t>
            </a:r>
            <a:r>
              <a:rPr lang="ru-RU" sz="1400" b="1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4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400" b="1" dirty="0">
                <a:solidFill>
                  <a:srgbClr val="008000"/>
                </a:solidFill>
                <a:latin typeface="Consolas" panose="020B0609020204030204" pitchFamily="49" charset="0"/>
              </a:rPr>
              <a:t>//Проверка основной логики</a:t>
            </a:r>
            <a:endParaRPr lang="ru-RU" sz="14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РезультатРасчета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).Равно(</a:t>
            </a:r>
            <a:r>
              <a:rPr lang="ru-RU" sz="14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РезультатПоСумме</a:t>
            </a:r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4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4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sz="1400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073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2430B-CE69-4CB7-B0D9-2899B32D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поведения, результата, взаимодействия</a:t>
            </a:r>
            <a:br>
              <a:rPr lang="ru-RU" dirty="0"/>
            </a:br>
            <a:br>
              <a:rPr lang="ru-RU" dirty="0"/>
            </a:br>
            <a:r>
              <a:rPr lang="ru-RU" dirty="0"/>
              <a:t> 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C1C345-99FE-474C-BA0A-F7247828A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066800" y="1518738"/>
            <a:ext cx="10508341" cy="403187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ИсполняемыеСценарии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ru-RU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Экспорт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ЮТТесты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.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ДобавитьТест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СуммаПоНДС</a:t>
            </a:r>
            <a:r>
              <a:rPr lang="ru-RU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.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СПараметрами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600" b="1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ru-RU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СуммаПоНДС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Сумма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РезультатПоСумме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РезультатРасчета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НДС.СуммаПоНДС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(Сумма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Результат)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РезультатРасчета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).Равно(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РезультатПоСумме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986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Паттерны и </a:t>
            </a:r>
            <a:r>
              <a:rPr lang="ru-RU" dirty="0" err="1"/>
              <a:t>антипаттерны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0" y="6586538"/>
            <a:ext cx="2743200" cy="271462"/>
          </a:xfrm>
        </p:spPr>
        <p:txBody>
          <a:bodyPr/>
          <a:lstStyle/>
          <a:p>
            <a:fld id="{C9976B65-83D1-41EE-B90D-AC3864B6824A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7778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621361-AFFC-46A9-AFE1-5D74A58B8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</a:t>
            </a:r>
            <a:r>
              <a:rPr lang="en-US" dirty="0"/>
              <a:t>AAA</a:t>
            </a:r>
            <a:r>
              <a:rPr lang="ru-RU" dirty="0"/>
              <a:t> (</a:t>
            </a:r>
            <a:r>
              <a:rPr lang="en-US" b="1" dirty="0"/>
              <a:t>Arrange-Act-Assert</a:t>
            </a:r>
            <a:r>
              <a:rPr lang="ru-RU" b="1" dirty="0"/>
              <a:t>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6C2335-4B00-4B9D-821C-9554BB54C8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5" name="Скругленный прямоугольник 1">
            <a:extLst>
              <a:ext uri="{FF2B5EF4-FFF2-40B4-BE49-F238E27FC236}">
                <a16:creationId xmlns:a16="http://schemas.microsoft.com/office/drawing/2014/main" id="{CC55A5D1-6C3E-45AB-8497-64D39CD45462}"/>
              </a:ext>
            </a:extLst>
          </p:cNvPr>
          <p:cNvSpPr/>
          <p:nvPr/>
        </p:nvSpPr>
        <p:spPr>
          <a:xfrm>
            <a:off x="2181458" y="1478705"/>
            <a:ext cx="1848765" cy="63699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Подготовка</a:t>
            </a:r>
          </a:p>
        </p:txBody>
      </p:sp>
      <p:sp>
        <p:nvSpPr>
          <p:cNvPr id="6" name="Скругленный прямоугольник 7">
            <a:extLst>
              <a:ext uri="{FF2B5EF4-FFF2-40B4-BE49-F238E27FC236}">
                <a16:creationId xmlns:a16="http://schemas.microsoft.com/office/drawing/2014/main" id="{4E3E2AE0-71D6-45E8-9B8C-4BD589CAEB8B}"/>
              </a:ext>
            </a:extLst>
          </p:cNvPr>
          <p:cNvSpPr/>
          <p:nvPr/>
        </p:nvSpPr>
        <p:spPr>
          <a:xfrm>
            <a:off x="4897488" y="1478705"/>
            <a:ext cx="1848765" cy="63699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Действие</a:t>
            </a:r>
          </a:p>
        </p:txBody>
      </p:sp>
      <p:sp>
        <p:nvSpPr>
          <p:cNvPr id="7" name="Скругленный прямоугольник 9">
            <a:extLst>
              <a:ext uri="{FF2B5EF4-FFF2-40B4-BE49-F238E27FC236}">
                <a16:creationId xmlns:a16="http://schemas.microsoft.com/office/drawing/2014/main" id="{3A5FE08D-819C-4776-BADD-72731A451ED4}"/>
              </a:ext>
            </a:extLst>
          </p:cNvPr>
          <p:cNvSpPr/>
          <p:nvPr/>
        </p:nvSpPr>
        <p:spPr>
          <a:xfrm>
            <a:off x="7613518" y="1478705"/>
            <a:ext cx="1848765" cy="636999"/>
          </a:xfrm>
          <a:prstGeom prst="roundRect">
            <a:avLst/>
          </a:prstGeom>
          <a:solidFill>
            <a:srgbClr val="5F5AA6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Проверка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D4BED49-442E-48A3-9CAD-966201F2247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030223" y="1797205"/>
            <a:ext cx="867265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E38CCEA7-0283-4543-A525-AF3775F4EDA8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746253" y="1797205"/>
            <a:ext cx="867265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1061442" y="2504357"/>
            <a:ext cx="10069116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ДанныеОбъектаПроверкиПоЗайму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8000"/>
                </a:solidFill>
                <a:latin typeface="Consolas" panose="020B0609020204030204" pitchFamily="49" charset="0"/>
              </a:rPr>
              <a:t>//Подготовка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Займ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ЗаписьЗаймДляДанныхПроверкиДосье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8000"/>
                </a:solidFill>
                <a:latin typeface="Consolas" panose="020B0609020204030204" pitchFamily="49" charset="0"/>
              </a:rPr>
              <a:t>//Действие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ДанныеОбъектаПроверки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ЦФТ_ПроверкаДосье.ДанныеОбъектаПроверки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Займ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8000"/>
                </a:solidFill>
                <a:latin typeface="Consolas" panose="020B0609020204030204" pitchFamily="49" charset="0"/>
              </a:rPr>
              <a:t>//Проверка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ДанныеОбъектаПроверки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.Свойство(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"Контрагент"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).Заполнено()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  </a:t>
            </a: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216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5E1FC-CAE3-4FCB-9D8F-39B140BA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solidFill>
                  <a:srgbClr val="FF0000"/>
                </a:solidFill>
              </a:rPr>
              <a:t>Антипаттерн</a:t>
            </a:r>
            <a:r>
              <a:rPr lang="ru-RU" dirty="0"/>
              <a:t> Множественные секции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18192C-8C34-472C-867F-F61904AE3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5" name="Скругленный прямоугольник 6">
            <a:extLst>
              <a:ext uri="{FF2B5EF4-FFF2-40B4-BE49-F238E27FC236}">
                <a16:creationId xmlns:a16="http://schemas.microsoft.com/office/drawing/2014/main" id="{845493F0-EFB7-4528-A69D-7B46003736C4}"/>
              </a:ext>
            </a:extLst>
          </p:cNvPr>
          <p:cNvSpPr/>
          <p:nvPr/>
        </p:nvSpPr>
        <p:spPr>
          <a:xfrm>
            <a:off x="1494548" y="1512282"/>
            <a:ext cx="1656445" cy="60617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Подготовка</a:t>
            </a:r>
          </a:p>
        </p:txBody>
      </p:sp>
      <p:cxnSp>
        <p:nvCxnSpPr>
          <p:cNvPr id="6" name="Соединительная линия уступом 15">
            <a:extLst>
              <a:ext uri="{FF2B5EF4-FFF2-40B4-BE49-F238E27FC236}">
                <a16:creationId xmlns:a16="http://schemas.microsoft.com/office/drawing/2014/main" id="{EA40F527-3567-463A-9695-C77FB7B586C8}"/>
              </a:ext>
            </a:extLst>
          </p:cNvPr>
          <p:cNvCxnSpPr>
            <a:stCxn id="5" idx="3"/>
            <a:endCxn id="7" idx="0"/>
          </p:cNvCxnSpPr>
          <p:nvPr/>
        </p:nvCxnSpPr>
        <p:spPr>
          <a:xfrm>
            <a:off x="3150993" y="1815369"/>
            <a:ext cx="832638" cy="42533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Скругленный прямоугольник 21">
            <a:extLst>
              <a:ext uri="{FF2B5EF4-FFF2-40B4-BE49-F238E27FC236}">
                <a16:creationId xmlns:a16="http://schemas.microsoft.com/office/drawing/2014/main" id="{3AFA83C8-CC15-4BC0-8528-B77F8A707C37}"/>
              </a:ext>
            </a:extLst>
          </p:cNvPr>
          <p:cNvSpPr/>
          <p:nvPr/>
        </p:nvSpPr>
        <p:spPr>
          <a:xfrm>
            <a:off x="3155408" y="2240705"/>
            <a:ext cx="1656445" cy="606174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Действие</a:t>
            </a:r>
          </a:p>
        </p:txBody>
      </p:sp>
      <p:sp>
        <p:nvSpPr>
          <p:cNvPr id="8" name="Скругленный прямоугольник 22">
            <a:extLst>
              <a:ext uri="{FF2B5EF4-FFF2-40B4-BE49-F238E27FC236}">
                <a16:creationId xmlns:a16="http://schemas.microsoft.com/office/drawing/2014/main" id="{E93CFD80-9C32-48E9-A8D4-16BA80CACC22}"/>
              </a:ext>
            </a:extLst>
          </p:cNvPr>
          <p:cNvSpPr/>
          <p:nvPr/>
        </p:nvSpPr>
        <p:spPr>
          <a:xfrm>
            <a:off x="4816268" y="2969128"/>
            <a:ext cx="1656445" cy="606174"/>
          </a:xfrm>
          <a:prstGeom prst="roundRect">
            <a:avLst/>
          </a:prstGeom>
          <a:solidFill>
            <a:srgbClr val="5F5AA6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Проверка</a:t>
            </a:r>
          </a:p>
        </p:txBody>
      </p:sp>
      <p:sp>
        <p:nvSpPr>
          <p:cNvPr id="9" name="Скругленный прямоугольник 23">
            <a:extLst>
              <a:ext uri="{FF2B5EF4-FFF2-40B4-BE49-F238E27FC236}">
                <a16:creationId xmlns:a16="http://schemas.microsoft.com/office/drawing/2014/main" id="{AE14A5C8-8E27-49E8-ADAA-32C51C48B69A}"/>
              </a:ext>
            </a:extLst>
          </p:cNvPr>
          <p:cNvSpPr/>
          <p:nvPr/>
        </p:nvSpPr>
        <p:spPr>
          <a:xfrm>
            <a:off x="6477128" y="3697551"/>
            <a:ext cx="1656445" cy="606174"/>
          </a:xfrm>
          <a:prstGeom prst="roundRect">
            <a:avLst/>
          </a:prstGeom>
          <a:solidFill>
            <a:srgbClr val="A5A5A5"/>
          </a:solidFill>
          <a:ln>
            <a:solidFill>
              <a:srgbClr val="A5A5A5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Действие 2</a:t>
            </a:r>
          </a:p>
        </p:txBody>
      </p:sp>
      <p:cxnSp>
        <p:nvCxnSpPr>
          <p:cNvPr id="10" name="Соединительная линия уступом 29">
            <a:extLst>
              <a:ext uri="{FF2B5EF4-FFF2-40B4-BE49-F238E27FC236}">
                <a16:creationId xmlns:a16="http://schemas.microsoft.com/office/drawing/2014/main" id="{91459B5A-D11E-4D36-8780-9C76978C8566}"/>
              </a:ext>
            </a:extLst>
          </p:cNvPr>
          <p:cNvCxnSpPr>
            <a:stCxn id="7" idx="3"/>
            <a:endCxn id="8" idx="0"/>
          </p:cNvCxnSpPr>
          <p:nvPr/>
        </p:nvCxnSpPr>
        <p:spPr>
          <a:xfrm>
            <a:off x="4811853" y="2543792"/>
            <a:ext cx="832638" cy="42533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Соединительная линия уступом 36">
            <a:extLst>
              <a:ext uri="{FF2B5EF4-FFF2-40B4-BE49-F238E27FC236}">
                <a16:creationId xmlns:a16="http://schemas.microsoft.com/office/drawing/2014/main" id="{D1794B1F-4260-449A-BAAE-DDFF018D9980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6472713" y="3272215"/>
            <a:ext cx="832638" cy="42533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Скругленный прямоугольник 47">
            <a:extLst>
              <a:ext uri="{FF2B5EF4-FFF2-40B4-BE49-F238E27FC236}">
                <a16:creationId xmlns:a16="http://schemas.microsoft.com/office/drawing/2014/main" id="{CBC3F5CC-330C-48A0-8B0D-6778E15B848B}"/>
              </a:ext>
            </a:extLst>
          </p:cNvPr>
          <p:cNvSpPr/>
          <p:nvPr/>
        </p:nvSpPr>
        <p:spPr>
          <a:xfrm>
            <a:off x="8133573" y="4425974"/>
            <a:ext cx="1656445" cy="606174"/>
          </a:xfrm>
          <a:prstGeom prst="roundRect">
            <a:avLst/>
          </a:prstGeom>
          <a:solidFill>
            <a:srgbClr val="5F5AA6"/>
          </a:solidFill>
          <a:ln>
            <a:solidFill>
              <a:srgbClr val="A5A5A5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Проверка 2</a:t>
            </a:r>
          </a:p>
        </p:txBody>
      </p:sp>
      <p:cxnSp>
        <p:nvCxnSpPr>
          <p:cNvPr id="13" name="Соединительная линия уступом 45">
            <a:extLst>
              <a:ext uri="{FF2B5EF4-FFF2-40B4-BE49-F238E27FC236}">
                <a16:creationId xmlns:a16="http://schemas.microsoft.com/office/drawing/2014/main" id="{6841E6B3-EDDE-4001-9270-CE0ED42FEC8B}"/>
              </a:ext>
            </a:extLst>
          </p:cNvPr>
          <p:cNvCxnSpPr>
            <a:stCxn id="9" idx="3"/>
            <a:endCxn id="12" idx="0"/>
          </p:cNvCxnSpPr>
          <p:nvPr/>
        </p:nvCxnSpPr>
        <p:spPr>
          <a:xfrm>
            <a:off x="8133573" y="4000638"/>
            <a:ext cx="828223" cy="425336"/>
          </a:xfrm>
          <a:prstGeom prst="bentConnector2">
            <a:avLst/>
          </a:prstGeom>
          <a:ln w="28575">
            <a:solidFill>
              <a:srgbClr val="A5A5A5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846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A51C5-5701-460D-AAF8-D477F4DE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множественных секций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13F253-C0E0-47E7-BD52-F0467D35EB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524000" y="1082465"/>
            <a:ext cx="9144000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ВидОбъектаПоФайлу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ВидОбъекта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//Подготовка 1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>
                <a:solidFill>
                  <a:srgbClr val="001080"/>
                </a:solidFill>
                <a:latin typeface="Consolas" panose="020B0609020204030204" pitchFamily="49" charset="0"/>
              </a:rPr>
              <a:t>Файл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СоздатьФайл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//Действие 1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РазмерФайла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РазмерФайла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(Файл)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//Проверка 1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РазмерФайла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).Больше(</a:t>
            </a:r>
            <a:r>
              <a:rPr lang="ru-RU" sz="1600" b="1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//Подготовка 2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Парсер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ПарсерФайлаПоУмолчанию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//Действие 2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ВидОбъектаПоФайлу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ВидОбъектаПоФайлу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(Файл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РазмерФайла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Парсер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//Проверка 2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ВидОбъектаПоФайлу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).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ЭтоНеНеопределено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  </a:t>
            </a:r>
          </a:p>
          <a:p>
            <a:r>
              <a:rPr lang="ru-RU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sz="1600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78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56EFB-6C97-43DF-A717-6098FFB2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solidFill>
                  <a:srgbClr val="FF0000"/>
                </a:solidFill>
              </a:rPr>
              <a:t>Антипаттерн</a:t>
            </a:r>
            <a:r>
              <a:rPr lang="ru-RU" dirty="0"/>
              <a:t> "Если"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3E08FF-0855-45F2-AE48-2212BBC222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8D433BF-7214-481C-BAC4-41C475F9A739}"/>
              </a:ext>
            </a:extLst>
          </p:cNvPr>
          <p:cNvSpPr/>
          <p:nvPr/>
        </p:nvSpPr>
        <p:spPr>
          <a:xfrm>
            <a:off x="2407428" y="7414667"/>
            <a:ext cx="6138690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569CD6"/>
                </a:solidFill>
                <a:latin typeface="Consolas" panose="020B0609020204030204" pitchFamily="49" charset="0"/>
              </a:rPr>
              <a:t>Процедура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DCDCAA"/>
                </a:solidFill>
                <a:latin typeface="Consolas" panose="020B0609020204030204" pitchFamily="49" charset="0"/>
              </a:rPr>
              <a:t>КаллорийностьКолыНаСкладе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ru-RU" sz="1600" dirty="0" err="1">
                <a:solidFill>
                  <a:srgbClr val="9CDCFE"/>
                </a:solidFill>
                <a:latin typeface="Consolas" panose="020B0609020204030204" pitchFamily="49" charset="0"/>
              </a:rPr>
              <a:t>ВидКолы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ru-RU" sz="1600" dirty="0">
                <a:solidFill>
                  <a:srgbClr val="9CDCFE"/>
                </a:solidFill>
                <a:latin typeface="Consolas" panose="020B0609020204030204" pitchFamily="49" charset="0"/>
              </a:rPr>
              <a:t>Кола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КолаНаСкладеПоВиду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ru-RU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ВидКолы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ru-RU" sz="1600" dirty="0">
                <a:solidFill>
                  <a:srgbClr val="C586C0"/>
                </a:solidFill>
                <a:latin typeface="Consolas" panose="020B0609020204030204" pitchFamily="49" charset="0"/>
              </a:rPr>
              <a:t>Если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ВидКолы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ru-RU" sz="1600" dirty="0" err="1">
                <a:solidFill>
                  <a:srgbClr val="CE9178"/>
                </a:solidFill>
                <a:latin typeface="Consolas" panose="020B0609020204030204" pitchFamily="49" charset="0"/>
              </a:rPr>
              <a:t>Зиро</a:t>
            </a:r>
            <a:r>
              <a:rPr lang="ru-RU" sz="16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C586C0"/>
                </a:solidFill>
                <a:latin typeface="Consolas" panose="020B0609020204030204" pitchFamily="49" charset="0"/>
              </a:rPr>
              <a:t>Тогда</a:t>
            </a:r>
            <a:endParaRPr lang="ru-RU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ru-RU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ru-RU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Кола.Калорийность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.Равно(</a:t>
            </a:r>
            <a:r>
              <a:rPr lang="ru-RU" sz="16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ru-RU" sz="1600" dirty="0" err="1">
                <a:solidFill>
                  <a:srgbClr val="C586C0"/>
                </a:solidFill>
                <a:latin typeface="Consolas" panose="020B0609020204030204" pitchFamily="49" charset="0"/>
              </a:rPr>
              <a:t>ИначеЕсли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ВидКолы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CE9178"/>
                </a:solidFill>
                <a:latin typeface="Consolas" panose="020B0609020204030204" pitchFamily="49" charset="0"/>
              </a:rPr>
              <a:t>"Классическая"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u-RU" sz="1600" dirty="0">
                <a:solidFill>
                  <a:srgbClr val="C586C0"/>
                </a:solidFill>
                <a:latin typeface="Consolas" panose="020B0609020204030204" pitchFamily="49" charset="0"/>
              </a:rPr>
              <a:t>Тогда</a:t>
            </a:r>
            <a:endParaRPr lang="ru-RU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</a:t>
            </a:r>
            <a:r>
              <a:rPr lang="ru-RU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ru-RU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Кола.Калорийность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.Равно(</a:t>
            </a:r>
            <a:r>
              <a:rPr lang="ru-RU" sz="1600" dirty="0">
                <a:solidFill>
                  <a:srgbClr val="B5CEA8"/>
                </a:solidFill>
                <a:latin typeface="Consolas" panose="020B0609020204030204" pitchFamily="49" charset="0"/>
              </a:rPr>
              <a:t>200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ru-RU" sz="1600" dirty="0">
                <a:solidFill>
                  <a:srgbClr val="C586C0"/>
                </a:solidFill>
                <a:latin typeface="Consolas" panose="020B0609020204030204" pitchFamily="49" charset="0"/>
              </a:rPr>
              <a:t>Иначе</a:t>
            </a:r>
            <a:endParaRPr lang="ru-RU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</a:t>
            </a:r>
            <a:r>
              <a:rPr lang="ru-RU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ru-RU" sz="1600" dirty="0" err="1">
                <a:solidFill>
                  <a:srgbClr val="CCCCCC"/>
                </a:solidFill>
                <a:latin typeface="Consolas" panose="020B0609020204030204" pitchFamily="49" charset="0"/>
              </a:rPr>
              <a:t>Кола.Калорийность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.Равно(</a:t>
            </a:r>
            <a:r>
              <a:rPr lang="ru-RU" sz="1600" dirty="0">
                <a:solidFill>
                  <a:srgbClr val="B5CEA8"/>
                </a:solidFill>
                <a:latin typeface="Consolas" panose="020B0609020204030204" pitchFamily="49" charset="0"/>
              </a:rPr>
              <a:t>2000</a:t>
            </a:r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ru-RU" sz="1600" dirty="0" err="1">
                <a:solidFill>
                  <a:srgbClr val="C586C0"/>
                </a:solidFill>
                <a:latin typeface="Consolas" panose="020B0609020204030204" pitchFamily="49" charset="0"/>
              </a:rPr>
              <a:t>КонецЕсли</a:t>
            </a:r>
            <a:r>
              <a:rPr lang="ru-RU" sz="16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600" dirty="0" err="1">
                <a:solidFill>
                  <a:srgbClr val="569CD6"/>
                </a:solidFill>
                <a:latin typeface="Consolas" panose="020B0609020204030204" pitchFamily="49" charset="0"/>
              </a:rPr>
              <a:t>КонецПроцедуры</a:t>
            </a:r>
            <a:endParaRPr lang="ru-RU" sz="16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03714" y="1246095"/>
            <a:ext cx="7184571" cy="50783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КаллорийностьКолыНаСкладе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ВидКолы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Кола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КолаНаСкладеПоВиду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ВидКолы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AF00DB"/>
                </a:solidFill>
                <a:latin typeface="Consolas" panose="020B0609020204030204" pitchFamily="49" charset="0"/>
              </a:rPr>
              <a:t>Если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ВидКолы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Зиро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AF00DB"/>
                </a:solidFill>
                <a:latin typeface="Consolas" panose="020B0609020204030204" pitchFamily="49" charset="0"/>
              </a:rPr>
              <a:t>Тогда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Кола.Калорийность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.Равно(</a:t>
            </a:r>
            <a:r>
              <a:rPr lang="ru-RU" b="1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AF00DB"/>
                </a:solidFill>
                <a:latin typeface="Consolas" panose="020B0609020204030204" pitchFamily="49" charset="0"/>
              </a:rPr>
              <a:t>ИначеЕсли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ВидКолы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"Классическая"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AF00DB"/>
                </a:solidFill>
                <a:latin typeface="Consolas" panose="020B0609020204030204" pitchFamily="49" charset="0"/>
              </a:rPr>
              <a:t>Тогда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Кола.Калорийность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.Равно(</a:t>
            </a:r>
            <a:r>
              <a:rPr lang="ru-RU" b="1" dirty="0">
                <a:solidFill>
                  <a:srgbClr val="098658"/>
                </a:solidFill>
                <a:latin typeface="Consolas" panose="020B0609020204030204" pitchFamily="49" charset="0"/>
              </a:rPr>
              <a:t>200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AF00DB"/>
                </a:solidFill>
                <a:latin typeface="Consolas" panose="020B0609020204030204" pitchFamily="49" charset="0"/>
              </a:rPr>
              <a:t>Иначе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Кола.Калорийность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.Равно(</a:t>
            </a:r>
            <a:r>
              <a:rPr lang="ru-RU" b="1" dirty="0">
                <a:solidFill>
                  <a:srgbClr val="098658"/>
                </a:solidFill>
                <a:latin typeface="Consolas" panose="020B0609020204030204" pitchFamily="49" charset="0"/>
              </a:rPr>
              <a:t>2000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AF00DB"/>
                </a:solidFill>
                <a:latin typeface="Consolas" panose="020B0609020204030204" pitchFamily="49" charset="0"/>
              </a:rPr>
              <a:t>КонецЕсли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381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56EFB-6C97-43DF-A717-6098FFB2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Исправление "Если"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3E08FF-0855-45F2-AE48-2212BBC222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053771" y="2421247"/>
            <a:ext cx="8084457" cy="2308324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КалорийностьКолыНаСкладе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ВидКолы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Каллорийность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Кола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КолаНаСкладеПоВиду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ВидКолы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(Кола.)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.Равно(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Каллорийность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 Калорийность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404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8936A7-324A-4C7B-B0ED-0122CDAF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Сильная связанность при изменении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CD04C5-1DCB-4B62-A07F-FBABABB447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26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00DA9B-75BA-4B27-A774-38603A1F0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524" y="1166234"/>
            <a:ext cx="6854203" cy="452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95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D99C0-E1CA-4C73-9611-442BA314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Сильная связанность при изменении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78F444-6C81-4F8C-857C-AB3AD8AC0C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313542" y="1698445"/>
            <a:ext cx="9564915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ЗаписатьДвиженияДокументаЧерезДвижокПроведения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Документ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ДвижокПроведения.ПровестиДокумент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(Документ)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ЮТест.ОжидаетЧтоТаблицаБазы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РегистрНакопления.ОстаткиТоваров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СодержитЗаписи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ЮТест.Предикат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.Реквизит(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"Регистратор"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).Равно(Документ))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ЮТест.ОжидаетЧтоТаблицаБазы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РегистрНакопления.ДвиженияТоваров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СодержитЗаписи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ЮТест.Предикат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.Реквизит(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"Регистратор"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).Равно(Документ))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492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C9D36-CEE9-4C50-B9A4-F4714415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Исправленная сильная связанность при изменении</a:t>
            </a:r>
            <a:br>
              <a:rPr lang="ru-RU" dirty="0"/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F6230A-D478-4BA6-B235-DA97AD801B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943100" y="2294470"/>
            <a:ext cx="8305800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ПровестиДокументЧерезДвижокПроведения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001080"/>
                </a:solidFill>
                <a:latin typeface="Consolas" panose="020B0609020204030204" pitchFamily="49" charset="0"/>
              </a:rPr>
              <a:t>Документ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ДвижокПроведения.ПровестиДокумет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(Документ)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   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ДвижокПроведения.ДвиженияЗаписаны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.Равно(</a:t>
            </a:r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Истина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891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E6F3CD-E5B5-4825-9872-F560BE84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Сильная связанность при выполнении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90E13A-5E13-4C0D-B0E6-602880ADB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31885" y="997521"/>
            <a:ext cx="6894286" cy="54784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2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ИсполняемыеСценарии</a:t>
            </a:r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ru-RU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Экспорт</a:t>
            </a:r>
            <a:endParaRPr lang="ru-RU" sz="12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ru-RU" sz="12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ЮТТесты</a:t>
            </a:r>
            <a:endParaRPr lang="ru-RU" sz="12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.</a:t>
            </a:r>
            <a:r>
              <a:rPr lang="ru-RU" sz="12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ДобавитьТест</a:t>
            </a:r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2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СоздатьОстаткиНоменклатурыПоКоду</a:t>
            </a:r>
            <a:r>
              <a:rPr lang="ru-RU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.</a:t>
            </a:r>
            <a:r>
              <a:rPr lang="ru-RU" sz="12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ДобавитьТест</a:t>
            </a:r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2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УдалитьОстаткиНоменклатурыПоКоду</a:t>
            </a:r>
            <a:r>
              <a:rPr lang="ru-RU" sz="12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2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r>
              <a:rPr lang="ru-RU" sz="1200" b="1" dirty="0">
                <a:solidFill>
                  <a:srgbClr val="3B3B3B"/>
                </a:solidFill>
                <a:latin typeface="Consolas" panose="020B0609020204030204" pitchFamily="49" charset="0"/>
              </a:rPr>
              <a:t>  </a:t>
            </a: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СоздатьОстаткиНоменклатурыПоКоду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600" b="1" dirty="0">
                <a:solidFill>
                  <a:srgbClr val="001080"/>
                </a:solidFill>
                <a:latin typeface="Consolas" panose="020B0609020204030204" pitchFamily="49" charset="0"/>
              </a:rPr>
              <a:t>Код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sz="1600" b="1" dirty="0">
                <a:solidFill>
                  <a:srgbClr val="001080"/>
                </a:solidFill>
                <a:latin typeface="Consolas" panose="020B0609020204030204" pitchFamily="49" charset="0"/>
              </a:rPr>
              <a:t>Остаток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ЗаписатьНоменклатуруПоКодуВОстатки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(Код)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(Остаток).Равно(</a:t>
            </a:r>
            <a:r>
              <a:rPr lang="ru-RU" sz="1600" b="1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   </a:t>
            </a:r>
          </a:p>
          <a:p>
            <a:b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УдалитьОстаткиНоменклатурыПоКоду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sz="1600" b="1" dirty="0">
                <a:solidFill>
                  <a:srgbClr val="001080"/>
                </a:solidFill>
                <a:latin typeface="Consolas" panose="020B0609020204030204" pitchFamily="49" charset="0"/>
              </a:rPr>
              <a:t>Код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//Условный код по генерации остатков</a:t>
            </a:r>
            <a:b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ЗаписатьНоменклатуруПоКодуВОстатки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(Код)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sz="1600" b="1" dirty="0">
                <a:solidFill>
                  <a:srgbClr val="001080"/>
                </a:solidFill>
                <a:latin typeface="Consolas" panose="020B0609020204030204" pitchFamily="49" charset="0"/>
              </a:rPr>
              <a:t>Остаток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УдалитьОстаткиНоменклатурыПоКоду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(Код)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sz="1600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sz="1600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(Остаток).Равно(</a:t>
            </a:r>
            <a:r>
              <a:rPr lang="ru-RU" sz="1600" b="1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  <a:t>  </a:t>
            </a:r>
          </a:p>
          <a:p>
            <a:br>
              <a:rPr lang="ru-RU" sz="1600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sz="1600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59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5B871-EB43-4346-814C-CBACD493C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Исправленная сильная связанность при выполнении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918B67-6B7E-409A-895F-80ACEE9CEE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307771" y="2119831"/>
            <a:ext cx="7576457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ИсполняемыеСценарии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Экспорт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ЮТТесты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ДобавитьТест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СоздатьОстаткиНоменклатурыПоКоду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УдалениеТестовыхДанных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ВТранзакции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ДобавитьТест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УдалитьОстаткиНоменклатурыПоКоду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УдалениеТестовыхДанных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ВТранзакции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476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D9E30-4203-423E-B387-53BDF37D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Случайные данные как случайный выстрел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394072-3A8E-410C-B251-1A473E73A1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155FC-3C38-4CE6-AD4F-5A8D831D79AE}"/>
              </a:ext>
            </a:extLst>
          </p:cNvPr>
          <p:cNvSpPr txBox="1"/>
          <p:nvPr/>
        </p:nvSpPr>
        <p:spPr>
          <a:xfrm>
            <a:off x="2743200" y="5395715"/>
            <a:ext cx="55002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ru-RU" sz="1400" i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Порядок потребен лишь глупцу, гений властвует над хаосом</a:t>
            </a:r>
          </a:p>
          <a:p>
            <a:pPr algn="r">
              <a:buClr>
                <a:srgbClr val="000000"/>
              </a:buClr>
              <a:buFont typeface="Arial"/>
              <a:buNone/>
            </a:pPr>
            <a:r>
              <a:rPr lang="ru-RU" sz="1400" b="1" i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Альберт Эйнштейн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F5881C4-2270-4DE3-8AAF-110BAE541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749" y="1301637"/>
            <a:ext cx="5418460" cy="40283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27436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EEFF8-F7C4-4CC9-849E-B4AC6DC7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Пример ошибочных случайных данных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682E80-1E8E-4B30-ADA4-AD73AE1B91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200469" y="1923863"/>
            <a:ext cx="10153331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НакладнаяГотоваКОтправке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НакладнаяОбъект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ЮТест.Данные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КонструкторОбъекта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Документ.Накладная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.Установить(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"Дата"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ЮТест.Данные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СлучайнаяДата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())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...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.Записать(</a:t>
            </a:r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Истина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ЮТест.ОжидаетЧто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НакладнаяОбъект.ГотоваКОтправке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.Равно(</a:t>
            </a:r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Истина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b="1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092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065B4-3C0B-479B-98FC-656F62ED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Исправление </a:t>
            </a:r>
            <a:r>
              <a:rPr lang="ru-RU" sz="2800" dirty="0"/>
              <a:t>ошибочных случайных данных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A431FC-E483-40F9-B3BB-1785094058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24113" y="2024130"/>
            <a:ext cx="10943771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00FF"/>
                </a:solidFill>
                <a:latin typeface="Consolas" panose="020B0609020204030204" pitchFamily="49" charset="0"/>
              </a:rPr>
              <a:t>Процедура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НакладнаяГотоваКОтправке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</a:t>
            </a:r>
            <a:r>
              <a:rPr lang="ru-RU" b="1" dirty="0" err="1">
                <a:solidFill>
                  <a:srgbClr val="001080"/>
                </a:solidFill>
                <a:latin typeface="Consolas" panose="020B0609020204030204" pitchFamily="49" charset="0"/>
              </a:rPr>
              <a:t>НакладнаяОбъект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ЮТест.Данные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КонструкторОбъекта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Документ.Накладная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.Установить(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"Дата"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ЮТест.Данные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().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СлучайнаяДата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('01.01.2022'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'31.12.2025'))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.Установить(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"Дата"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ТекущаяДатаСеанса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())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.Установить(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"Дата"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ДатаДокументаНакладной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())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.Установить(</a:t>
            </a:r>
            <a:r>
              <a:rPr lang="ru-RU" b="1" dirty="0">
                <a:solidFill>
                  <a:srgbClr val="A31515"/>
                </a:solidFill>
                <a:latin typeface="Consolas" panose="020B0609020204030204" pitchFamily="49" charset="0"/>
              </a:rPr>
              <a:t>"Дата"</a:t>
            </a:r>
            <a:r>
              <a:rPr lang="ru-RU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ru-RU" b="1" dirty="0" err="1">
                <a:solidFill>
                  <a:srgbClr val="3B3B3B"/>
                </a:solidFill>
                <a:latin typeface="Consolas" panose="020B0609020204030204" pitchFamily="49" charset="0"/>
              </a:rPr>
              <a:t>ТестовыеДанные.ДатаЗаписиДокументов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ru-RU" b="1" dirty="0" err="1">
                <a:solidFill>
                  <a:srgbClr val="795E26"/>
                </a:solidFill>
                <a:latin typeface="Consolas" panose="020B0609020204030204" pitchFamily="49" charset="0"/>
              </a:rPr>
              <a:t>ТекущаяДата</a:t>
            </a:r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())) </a:t>
            </a:r>
          </a:p>
          <a:p>
            <a: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  <a:t>        ...</a:t>
            </a:r>
          </a:p>
          <a:p>
            <a:br>
              <a:rPr lang="ru-RU" b="1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ru-RU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КонецПроцедуры</a:t>
            </a:r>
            <a:endParaRPr lang="ru-RU" b="1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471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Внедрение 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CI/CD, </a:t>
            </a:r>
            <a:r>
              <a:rPr lang="ru-RU" dirty="0"/>
              <a:t>базы, человеческий фактор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0" y="6586538"/>
            <a:ext cx="2743200" cy="271462"/>
          </a:xfrm>
        </p:spPr>
        <p:txBody>
          <a:bodyPr/>
          <a:lstStyle/>
          <a:p>
            <a:fld id="{C9976B65-83D1-41EE-B90D-AC3864B6824A}" type="slidenum">
              <a:rPr lang="ru-RU" smtClean="0"/>
              <a:pPr/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0150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2A9075-1CFC-4A84-8348-7CC443F1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89DDC4-CC7A-440C-B44D-B38AFB9D3A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35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EF2FD9-B2C6-45A1-92A5-1736BE2D9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19690"/>
            <a:ext cx="11010472" cy="544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077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2A9075-1CFC-4A84-8348-7CC443F1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89DDC4-CC7A-440C-B44D-B38AFB9D3A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36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9309D4-75B4-4CAB-87C3-CFD41771D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46095"/>
            <a:ext cx="10317015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912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37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43868"/>
            <a:ext cx="2554516" cy="255451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529" y="2653470"/>
            <a:ext cx="1944914" cy="194491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56" y="3563258"/>
            <a:ext cx="1035126" cy="10351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2229" y="5008823"/>
            <a:ext cx="2046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Полная копия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6942" y="5008822"/>
            <a:ext cx="3229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Частичное заполнение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7256" y="5008821"/>
            <a:ext cx="1077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Пустая</a:t>
            </a:r>
          </a:p>
        </p:txBody>
      </p:sp>
    </p:spTree>
    <p:extLst>
      <p:ext uri="{BB962C8B-B14F-4D97-AF65-F5344CB8AC3E}">
        <p14:creationId xmlns:p14="http://schemas.microsoft.com/office/powerpoint/2010/main" val="596271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Люди…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838200" y="2332726"/>
            <a:ext cx="10976429" cy="3166972"/>
          </a:xfrm>
        </p:spPr>
        <p:txBody>
          <a:bodyPr>
            <a:noAutofit/>
          </a:bodyPr>
          <a:lstStyle/>
          <a:p>
            <a:r>
              <a:rPr lang="ru-RU" sz="3200" dirty="0"/>
              <a:t>«Широк человек, слишком даже широк, я бы сузил»</a:t>
            </a:r>
            <a:br>
              <a:rPr lang="ru-RU" sz="3200" dirty="0"/>
            </a:br>
            <a:r>
              <a:rPr lang="ru-RU" sz="3200" i="1" dirty="0"/>
              <a:t>-Фёдор Достоевский, «Братья Карамазовы»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3819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07F5E-A78F-4462-AAEA-C426DB93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Источники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334F2D-B13D-4D1E-A861-0769437512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39</a:t>
            </a:fld>
            <a:endParaRPr lang="ru-RU" dirty="0"/>
          </a:p>
        </p:txBody>
      </p:sp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CCF4ECCB-7E1A-4B2C-AE7F-CE3D0A1C4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850" y="1389087"/>
            <a:ext cx="4079825" cy="407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s://avatars.githubusercontent.com/u/49425984?s=200&amp;v=4">
            <a:extLst>
              <a:ext uri="{FF2B5EF4-FFF2-40B4-BE49-F238E27FC236}">
                <a16:creationId xmlns:a16="http://schemas.microsoft.com/office/drawing/2014/main" id="{F7CA8AF1-00CC-4C71-9AFB-F30EE6853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18973"/>
            <a:ext cx="3427204" cy="3427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8195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D3D29-11A4-4C66-9AFF-CDB8CCC7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" dirty="0"/>
              <a:t>Подытожим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9AD069-9162-4E26-AF0C-9D90E5DB01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2800" dirty="0"/>
              <a:t>Юнит тесты - это несложно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2800" dirty="0"/>
              <a:t>Юнит тесты - это не про тесты, это про написание кода под тесты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sz="2800" dirty="0"/>
              <a:t>Юнит тесты - это стабильность</a:t>
            </a:r>
          </a:p>
          <a:p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0D4FF0-03D9-48A7-9A41-BABD8194D4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91536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0B31D4E-E53B-4A21-94A5-2F9E3AD05A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9658C01-E739-4AC8-942F-2803D39265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9788" y="3429000"/>
            <a:ext cx="9002712" cy="933450"/>
          </a:xfrm>
        </p:spPr>
        <p:txBody>
          <a:bodyPr/>
          <a:lstStyle/>
          <a:p>
            <a:r>
              <a:rPr lang="ru-RU" dirty="0"/>
              <a:t>Штифонов Максим Александрович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A6C186-E6D3-49DD-87CE-8503FCCC7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76B65-83D1-41EE-B90D-AC3864B6824A}" type="slidenum">
              <a:rPr lang="ru-RU" smtClean="0"/>
              <a:pPr/>
              <a:t>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09148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13901</TotalTime>
  <Words>6171</Words>
  <Application>Microsoft Office PowerPoint</Application>
  <PresentationFormat>Широкоэкранный</PresentationFormat>
  <Paragraphs>488</Paragraphs>
  <Slides>41</Slides>
  <Notes>41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8" baseType="lpstr">
      <vt:lpstr>Calibri</vt:lpstr>
      <vt:lpstr>Onest SemiBold</vt:lpstr>
      <vt:lpstr>Arial</vt:lpstr>
      <vt:lpstr>Wix Madefor Display</vt:lpstr>
      <vt:lpstr>Consolas</vt:lpstr>
      <vt:lpstr>Wingdings</vt:lpstr>
      <vt:lpstr>Тема Office</vt:lpstr>
      <vt:lpstr>Юнит-тесты в 1С: паттерны проектирования</vt:lpstr>
      <vt:lpstr>План доклада</vt:lpstr>
      <vt:lpstr>КТО Я?</vt:lpstr>
      <vt:lpstr>КТО МЫ?</vt:lpstr>
      <vt:lpstr>Состояние тестирования</vt:lpstr>
      <vt:lpstr>Что такое юнит тест</vt:lpstr>
      <vt:lpstr>YAxUnit</vt:lpstr>
      <vt:lpstr>Подходы в изоляции</vt:lpstr>
      <vt:lpstr>Изоляция по классике(детроит)</vt:lpstr>
      <vt:lpstr>Изоляция по-лондонски</vt:lpstr>
      <vt:lpstr>Пример изоляции по школам</vt:lpstr>
      <vt:lpstr>Изоляция по классике</vt:lpstr>
      <vt:lpstr>Изоляция по лондонски</vt:lpstr>
      <vt:lpstr>Вывод по школам тестирования</vt:lpstr>
      <vt:lpstr>Имплементация - конкретная техническая реализация функциональности в коде. </vt:lpstr>
      <vt:lpstr>Поведение</vt:lpstr>
      <vt:lpstr>Детали имплементации </vt:lpstr>
      <vt:lpstr>Проверка деталей    </vt:lpstr>
      <vt:lpstr>Проверка поведения, результата, взаимодействия    </vt:lpstr>
      <vt:lpstr>Паттерны и антипаттерны</vt:lpstr>
      <vt:lpstr>Паттерн AAA (Arrange-Act-Assert)</vt:lpstr>
      <vt:lpstr>Антипаттерн Множественные секции</vt:lpstr>
      <vt:lpstr>Пример множественных секций</vt:lpstr>
      <vt:lpstr>Антипаттерн "Если"</vt:lpstr>
      <vt:lpstr>Исправление "Если"</vt:lpstr>
      <vt:lpstr>Сильная связанность при изменении </vt:lpstr>
      <vt:lpstr>Сильная связанность при изменении </vt:lpstr>
      <vt:lpstr>Исправленная сильная связанность при изменении </vt:lpstr>
      <vt:lpstr>Сильная связанность при выполнении</vt:lpstr>
      <vt:lpstr>Исправленная сильная связанность при выполнении</vt:lpstr>
      <vt:lpstr>Случайные данные как случайный выстрел</vt:lpstr>
      <vt:lpstr>Пример ошибочных случайных данных</vt:lpstr>
      <vt:lpstr>Исправление ошибочных случайных данных</vt:lpstr>
      <vt:lpstr>Внедрение </vt:lpstr>
      <vt:lpstr>Хранение</vt:lpstr>
      <vt:lpstr>Проверки</vt:lpstr>
      <vt:lpstr>Базы</vt:lpstr>
      <vt:lpstr>Люди…</vt:lpstr>
      <vt:lpstr>Источники</vt:lpstr>
      <vt:lpstr>Подытожим</vt:lpstr>
      <vt:lpstr>Вопросы</vt:lpstr>
    </vt:vector>
  </TitlesOfParts>
  <Company>Центр Финансовых Технологий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Юнит-тесты в 1С: паттерны проектирования</dc:title>
  <dc:creator>Штифонов Максим Александрович</dc:creator>
  <cp:keywords>Счастье для всех, даром, и пусть никто не уйдёт обиженным</cp:keywords>
  <cp:lastModifiedBy>Штифонов Максим Александрович</cp:lastModifiedBy>
  <cp:revision>337</cp:revision>
  <dcterms:created xsi:type="dcterms:W3CDTF">2025-02-28T05:46:00Z</dcterms:created>
  <dcterms:modified xsi:type="dcterms:W3CDTF">2026-09-13T11:26:27Z</dcterms:modified>
</cp:coreProperties>
</file>